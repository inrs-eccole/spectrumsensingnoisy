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62" r:id="rId1"/>
  </p:sldMasterIdLst>
  <p:notesMasterIdLst>
    <p:notesMasterId r:id="rId24"/>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6" r:id="rId15"/>
    <p:sldId id="277" r:id="rId16"/>
    <p:sldId id="278" r:id="rId17"/>
    <p:sldId id="279" r:id="rId18"/>
    <p:sldId id="280" r:id="rId19"/>
    <p:sldId id="281" r:id="rId20"/>
    <p:sldId id="283" r:id="rId21"/>
    <p:sldId id="284" r:id="rId22"/>
    <p:sldId id="285" r:id="rId23"/>
  </p:sldIdLst>
  <p:sldSz cx="12192000" cy="6858000"/>
  <p:notesSz cx="6858000" cy="9144000"/>
  <p:embeddedFontLst>
    <p:embeddedFont>
      <p:font typeface="Bahnschrift" panose="020B0502040204020203" pitchFamily="34" charset="0"/>
      <p:regular r:id="rId25"/>
      <p:bold r:id="rId26"/>
    </p:embeddedFont>
    <p:embeddedFont>
      <p:font typeface="Inter" panose="020B0604020202020204" charset="0"/>
      <p:regular r:id="rId27"/>
      <p:bold r:id="rId28"/>
      <p:italic r:id="rId29"/>
      <p:boldItalic r:id="rId30"/>
    </p:embeddedFont>
    <p:embeddedFont>
      <p:font typeface="Inter SemiBold" panose="020B0604020202020204" charset="0"/>
      <p:regular r:id="rId31"/>
      <p:bold r:id="rId32"/>
      <p:italic r:id="rId33"/>
      <p:boldItalic r:id="rId34"/>
    </p:embeddedFont>
    <p:embeddedFont>
      <p:font typeface="Microsoft GothicNeo" panose="020B0500000101010101" pitchFamily="34" charset="-127"/>
      <p:regular r:id="rId35"/>
      <p:bold r:id="rId36"/>
    </p:embeddedFont>
    <p:embeddedFont>
      <p:font typeface="Poppins" panose="00000500000000000000" pitchFamily="2" charset="0"/>
      <p:regular r:id="rId37"/>
      <p:bold r:id="rId38"/>
      <p:italic r:id="rId39"/>
      <p:boldItalic r:id="rId40"/>
    </p:embeddedFont>
    <p:embeddedFont>
      <p:font typeface="Poppins Medium" panose="00000600000000000000" pitchFamily="2" charset="0"/>
      <p:regular r:id="rId41"/>
      <p:bold r:id="rId42"/>
      <p:italic r:id="rId43"/>
      <p:boldItalic r:id="rId44"/>
    </p:embeddedFont>
    <p:embeddedFont>
      <p:font typeface="Poppins SemiBold" panose="00000700000000000000" pitchFamily="2" charset="0"/>
      <p:regular r:id="rId45"/>
      <p:bold r:id="rId46"/>
      <p:italic r:id="rId47"/>
      <p:boldItalic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font" Target="fonts/font23.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font" Target="fonts/font20.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openxmlformats.org/officeDocument/2006/relationships/font" Target="fonts/font24.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20" Type="http://schemas.openxmlformats.org/officeDocument/2006/relationships/slide" Target="slides/slide19.xml"/><Relationship Id="rId41"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daa138b57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5" name="Google Shape;325;g3daa138b57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3daa138b578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3" name="Google Shape;333;g3daa138b578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daa138b578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2" name="Google Shape;352;g3daa138b578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daa138b578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65" name="Google Shape;365;g3daa138b578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daa138b578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4" name="Google Shape;384;g3daa138b578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daa138b578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0" name="Google Shape;400;g3daa138b578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3daa138b578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4" name="Google Shape;444;g3daa138b578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daa138b578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g3daa138b578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daa138b578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3" name="Google Shape;483;g3daa138b578_0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2CB46-EA12-22EF-4CF7-76B29BE807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DAC466B9-08E0-8EFA-A1DB-C554BC013C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E1AFD517-60D4-5B85-FFCF-E3F37E9E761F}"/>
              </a:ext>
            </a:extLst>
          </p:cNvPr>
          <p:cNvSpPr>
            <a:spLocks noGrp="1"/>
          </p:cNvSpPr>
          <p:nvPr>
            <p:ph type="dt" sz="half" idx="10"/>
          </p:nvPr>
        </p:nvSpPr>
        <p:spPr/>
        <p:txBody>
          <a:bodyPr/>
          <a:lstStyle/>
          <a:p>
            <a:fld id="{4657979B-6709-4D51-8487-8C05DA7AB3DD}" type="datetime9">
              <a:rPr lang="en-US" smtClean="0"/>
              <a:t>5/16/2026 10:59:48 PM</a:t>
            </a:fld>
            <a:endParaRPr lang="en-CA"/>
          </a:p>
        </p:txBody>
      </p:sp>
      <p:sp>
        <p:nvSpPr>
          <p:cNvPr id="5" name="Footer Placeholder 4">
            <a:extLst>
              <a:ext uri="{FF2B5EF4-FFF2-40B4-BE49-F238E27FC236}">
                <a16:creationId xmlns:a16="http://schemas.microsoft.com/office/drawing/2014/main" id="{B79FA36A-9FE1-D18D-3127-288E0AD0174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3A0FC97-213A-F0DF-77BD-A2671C8CF49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58323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C9645-A25F-53AA-C7A6-BA85CDE9A99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89F174B6-5F38-179F-A1A0-55021225FF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31AC3F4-9812-EC0C-3C28-2BDFA36E57E2}"/>
              </a:ext>
            </a:extLst>
          </p:cNvPr>
          <p:cNvSpPr>
            <a:spLocks noGrp="1"/>
          </p:cNvSpPr>
          <p:nvPr>
            <p:ph type="dt" sz="half" idx="10"/>
          </p:nvPr>
        </p:nvSpPr>
        <p:spPr/>
        <p:txBody>
          <a:bodyPr/>
          <a:lstStyle/>
          <a:p>
            <a:fld id="{199BA85E-108A-4FCC-87C5-665E61B51666}" type="datetime9">
              <a:rPr lang="en-US" smtClean="0"/>
              <a:t>5/16/2026 10:59:48 PM</a:t>
            </a:fld>
            <a:endParaRPr lang="en-CA"/>
          </a:p>
        </p:txBody>
      </p:sp>
      <p:sp>
        <p:nvSpPr>
          <p:cNvPr id="5" name="Footer Placeholder 4">
            <a:extLst>
              <a:ext uri="{FF2B5EF4-FFF2-40B4-BE49-F238E27FC236}">
                <a16:creationId xmlns:a16="http://schemas.microsoft.com/office/drawing/2014/main" id="{7C9B5810-88DB-2CBD-A8A9-60A5BDD39A2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C7C62C8-BC28-AC86-0833-4F458837CA3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23166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CEDFB-C375-60A9-BD1B-CFE71647F7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DE60CF47-658B-690D-FC02-1000CBA16E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81E3A0-1691-46F7-B3CA-4D33DC1DDF02}"/>
              </a:ext>
            </a:extLst>
          </p:cNvPr>
          <p:cNvSpPr>
            <a:spLocks noGrp="1"/>
          </p:cNvSpPr>
          <p:nvPr>
            <p:ph type="dt" sz="half" idx="10"/>
          </p:nvPr>
        </p:nvSpPr>
        <p:spPr/>
        <p:txBody>
          <a:bodyPr/>
          <a:lstStyle/>
          <a:p>
            <a:fld id="{D6AEF923-B0DD-41B3-B19B-EF54E67B5475}" type="datetime9">
              <a:rPr lang="en-US" smtClean="0"/>
              <a:t>5/16/2026 10:59:48 PM</a:t>
            </a:fld>
            <a:endParaRPr lang="en-CA"/>
          </a:p>
        </p:txBody>
      </p:sp>
      <p:sp>
        <p:nvSpPr>
          <p:cNvPr id="5" name="Footer Placeholder 4">
            <a:extLst>
              <a:ext uri="{FF2B5EF4-FFF2-40B4-BE49-F238E27FC236}">
                <a16:creationId xmlns:a16="http://schemas.microsoft.com/office/drawing/2014/main" id="{28BCB503-89F9-C133-41A4-46AB114F8E1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092F900-FB8F-2533-DB06-07DA4F6B41F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46283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A6739-0441-7B91-2F81-482969C630C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0441C89-C078-CEC0-CE93-D3DA47C296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DCCB1185-0808-BE19-EC7D-2A0FE45976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D692EAD2-1AD0-A02D-AEB9-D365ED7AF72F}"/>
              </a:ext>
            </a:extLst>
          </p:cNvPr>
          <p:cNvSpPr>
            <a:spLocks noGrp="1"/>
          </p:cNvSpPr>
          <p:nvPr>
            <p:ph type="dt" sz="half" idx="10"/>
          </p:nvPr>
        </p:nvSpPr>
        <p:spPr/>
        <p:txBody>
          <a:bodyPr/>
          <a:lstStyle/>
          <a:p>
            <a:fld id="{8C5B33CA-9B65-4066-892B-1028597AF0FD}" type="datetime9">
              <a:rPr lang="en-US" smtClean="0"/>
              <a:t>5/16/2026 10:59:48 PM</a:t>
            </a:fld>
            <a:endParaRPr lang="en-CA"/>
          </a:p>
        </p:txBody>
      </p:sp>
      <p:sp>
        <p:nvSpPr>
          <p:cNvPr id="6" name="Footer Placeholder 5">
            <a:extLst>
              <a:ext uri="{FF2B5EF4-FFF2-40B4-BE49-F238E27FC236}">
                <a16:creationId xmlns:a16="http://schemas.microsoft.com/office/drawing/2014/main" id="{737EE6E6-ADF0-63EE-FE49-0364C485014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0E235BD-B345-4DD7-C4D7-0676F705218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3507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69384-F0B9-32F2-FFE3-5AD2453D9150}"/>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1C6FB22-B76B-40DD-973A-8497CE6DB3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8597F4-6619-16BD-CB0A-A288C3EA55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3DD35613-2DDA-B744-B098-D96315A38F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A15C66-A9CD-EEB3-B6C9-6A8B169790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822DD4CD-ECEA-6A94-334C-7C4482E2F6F9}"/>
              </a:ext>
            </a:extLst>
          </p:cNvPr>
          <p:cNvSpPr>
            <a:spLocks noGrp="1"/>
          </p:cNvSpPr>
          <p:nvPr>
            <p:ph type="dt" sz="half" idx="10"/>
          </p:nvPr>
        </p:nvSpPr>
        <p:spPr/>
        <p:txBody>
          <a:bodyPr/>
          <a:lstStyle/>
          <a:p>
            <a:fld id="{83056DAA-5454-4380-BE48-13570D898D2E}" type="datetime9">
              <a:rPr lang="en-US" smtClean="0"/>
              <a:t>5/16/2026 10:59:48 PM</a:t>
            </a:fld>
            <a:endParaRPr lang="en-CA"/>
          </a:p>
        </p:txBody>
      </p:sp>
      <p:sp>
        <p:nvSpPr>
          <p:cNvPr id="8" name="Footer Placeholder 7">
            <a:extLst>
              <a:ext uri="{FF2B5EF4-FFF2-40B4-BE49-F238E27FC236}">
                <a16:creationId xmlns:a16="http://schemas.microsoft.com/office/drawing/2014/main" id="{06A1E947-0DBA-39A5-BB4E-8E7CD7BF477D}"/>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E67438FF-C31B-445F-F6D6-54BA8D4BFA7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45364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50F11-566C-B9E9-2AF8-E0C0AB4A44D3}"/>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492402B8-D2E9-2216-61FA-1DFA254ACFFE}"/>
              </a:ext>
            </a:extLst>
          </p:cNvPr>
          <p:cNvSpPr>
            <a:spLocks noGrp="1"/>
          </p:cNvSpPr>
          <p:nvPr>
            <p:ph type="dt" sz="half" idx="10"/>
          </p:nvPr>
        </p:nvSpPr>
        <p:spPr/>
        <p:txBody>
          <a:bodyPr/>
          <a:lstStyle/>
          <a:p>
            <a:fld id="{C917B4B6-A512-4596-8B07-0C1CB8FFCC77}" type="datetime9">
              <a:rPr lang="en-US" smtClean="0"/>
              <a:t>5/16/2026 10:59:48 PM</a:t>
            </a:fld>
            <a:endParaRPr lang="en-CA"/>
          </a:p>
        </p:txBody>
      </p:sp>
      <p:sp>
        <p:nvSpPr>
          <p:cNvPr id="4" name="Footer Placeholder 3">
            <a:extLst>
              <a:ext uri="{FF2B5EF4-FFF2-40B4-BE49-F238E27FC236}">
                <a16:creationId xmlns:a16="http://schemas.microsoft.com/office/drawing/2014/main" id="{1E071FB9-45A5-1F2A-0028-1344271459F6}"/>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AED0DF18-21C9-6C2B-E785-5E9B3EBF805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76314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AA44A7-AAF2-3552-3778-16B090E612F3}"/>
              </a:ext>
            </a:extLst>
          </p:cNvPr>
          <p:cNvSpPr>
            <a:spLocks noGrp="1"/>
          </p:cNvSpPr>
          <p:nvPr>
            <p:ph type="dt" sz="half" idx="10"/>
          </p:nvPr>
        </p:nvSpPr>
        <p:spPr/>
        <p:txBody>
          <a:bodyPr/>
          <a:lstStyle/>
          <a:p>
            <a:fld id="{C9BB0995-E4D2-47ED-9854-3DAF64BBCA3E}" type="datetime9">
              <a:rPr lang="en-US" smtClean="0"/>
              <a:t>5/16/2026 10:59:47 PM</a:t>
            </a:fld>
            <a:endParaRPr lang="en-CA"/>
          </a:p>
        </p:txBody>
      </p:sp>
      <p:sp>
        <p:nvSpPr>
          <p:cNvPr id="3" name="Footer Placeholder 2">
            <a:extLst>
              <a:ext uri="{FF2B5EF4-FFF2-40B4-BE49-F238E27FC236}">
                <a16:creationId xmlns:a16="http://schemas.microsoft.com/office/drawing/2014/main" id="{BBE28B1E-14CC-592D-2D48-9718A93D9D80}"/>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ED5DA73E-BD2D-1DD4-3691-39857A32010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35745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AE1EE-0ED8-F46B-7962-3EFB63FF0C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0A095F62-F536-D03F-89C5-F2637AB378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251B0AD2-680A-3E9A-A830-1D654E5CAD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DE0211-6B0B-067C-9F29-A804E0CE57D3}"/>
              </a:ext>
            </a:extLst>
          </p:cNvPr>
          <p:cNvSpPr>
            <a:spLocks noGrp="1"/>
          </p:cNvSpPr>
          <p:nvPr>
            <p:ph type="dt" sz="half" idx="10"/>
          </p:nvPr>
        </p:nvSpPr>
        <p:spPr/>
        <p:txBody>
          <a:bodyPr/>
          <a:lstStyle/>
          <a:p>
            <a:fld id="{2D22D0CB-8436-4455-A640-15E1FE7EE0EA}" type="datetime9">
              <a:rPr lang="en-US" smtClean="0"/>
              <a:t>5/16/2026 10:59:48 PM</a:t>
            </a:fld>
            <a:endParaRPr lang="en-CA"/>
          </a:p>
        </p:txBody>
      </p:sp>
      <p:sp>
        <p:nvSpPr>
          <p:cNvPr id="6" name="Footer Placeholder 5">
            <a:extLst>
              <a:ext uri="{FF2B5EF4-FFF2-40B4-BE49-F238E27FC236}">
                <a16:creationId xmlns:a16="http://schemas.microsoft.com/office/drawing/2014/main" id="{41209674-1B3B-4FC6-9AFA-9838A7A3CE6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76FB17D-5A45-6BE4-8142-19B401EFFC4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62009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A8652-D6DD-9C92-AFF7-253C3BBF98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BC240295-842C-DDF6-0C47-50295AC6AE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4DD15650-D0D5-ABF1-A878-7491547339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009400-14B3-CD73-955F-AB43214ACDEF}"/>
              </a:ext>
            </a:extLst>
          </p:cNvPr>
          <p:cNvSpPr>
            <a:spLocks noGrp="1"/>
          </p:cNvSpPr>
          <p:nvPr>
            <p:ph type="dt" sz="half" idx="10"/>
          </p:nvPr>
        </p:nvSpPr>
        <p:spPr/>
        <p:txBody>
          <a:bodyPr/>
          <a:lstStyle/>
          <a:p>
            <a:fld id="{F3CF8D3F-A8F2-483B-A616-0C0812DE3A52}" type="datetime9">
              <a:rPr lang="en-US" smtClean="0"/>
              <a:t>5/16/2026 10:59:48 PM</a:t>
            </a:fld>
            <a:endParaRPr lang="en-CA"/>
          </a:p>
        </p:txBody>
      </p:sp>
      <p:sp>
        <p:nvSpPr>
          <p:cNvPr id="6" name="Footer Placeholder 5">
            <a:extLst>
              <a:ext uri="{FF2B5EF4-FFF2-40B4-BE49-F238E27FC236}">
                <a16:creationId xmlns:a16="http://schemas.microsoft.com/office/drawing/2014/main" id="{2EB4E201-40D9-7F7E-7356-87FDCB79F490}"/>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BF9B5B0-78D7-5681-881E-147FCE1FAAF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29034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E3E92-D09F-4230-E658-FFE603900436}"/>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DA0F1AC-06FA-8B24-FD7C-88F41EDB0C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EDE1D7E-B41D-9B32-642B-A6D48A8683AB}"/>
              </a:ext>
            </a:extLst>
          </p:cNvPr>
          <p:cNvSpPr>
            <a:spLocks noGrp="1"/>
          </p:cNvSpPr>
          <p:nvPr>
            <p:ph type="dt" sz="half" idx="10"/>
          </p:nvPr>
        </p:nvSpPr>
        <p:spPr/>
        <p:txBody>
          <a:bodyPr/>
          <a:lstStyle/>
          <a:p>
            <a:fld id="{29AA7994-D468-4911-9F50-95114016BFDB}" type="datetime9">
              <a:rPr lang="en-US" smtClean="0"/>
              <a:t>5/16/2026 10:59:48 PM</a:t>
            </a:fld>
            <a:endParaRPr lang="en-CA"/>
          </a:p>
        </p:txBody>
      </p:sp>
      <p:sp>
        <p:nvSpPr>
          <p:cNvPr id="5" name="Footer Placeholder 4">
            <a:extLst>
              <a:ext uri="{FF2B5EF4-FFF2-40B4-BE49-F238E27FC236}">
                <a16:creationId xmlns:a16="http://schemas.microsoft.com/office/drawing/2014/main" id="{12BFD675-8736-2346-50A3-6E2C49A6F34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5C6D4A9-FDF2-BE80-BCA9-FB6A87A8BEB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50241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A05D13-3E3F-2EDA-5019-C331E374C35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6BAE8883-B15D-14A0-3A15-7732E2F6CA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CA7C201-5D18-EEDD-DB54-B76E990F01E5}"/>
              </a:ext>
            </a:extLst>
          </p:cNvPr>
          <p:cNvSpPr>
            <a:spLocks noGrp="1"/>
          </p:cNvSpPr>
          <p:nvPr>
            <p:ph type="dt" sz="half" idx="10"/>
          </p:nvPr>
        </p:nvSpPr>
        <p:spPr/>
        <p:txBody>
          <a:bodyPr/>
          <a:lstStyle/>
          <a:p>
            <a:fld id="{E617D35E-E572-453B-9321-B66F8E3F7C65}" type="datetime9">
              <a:rPr lang="en-US" smtClean="0"/>
              <a:t>5/16/2026 10:59:48 PM</a:t>
            </a:fld>
            <a:endParaRPr lang="en-CA"/>
          </a:p>
        </p:txBody>
      </p:sp>
      <p:sp>
        <p:nvSpPr>
          <p:cNvPr id="5" name="Footer Placeholder 4">
            <a:extLst>
              <a:ext uri="{FF2B5EF4-FFF2-40B4-BE49-F238E27FC236}">
                <a16:creationId xmlns:a16="http://schemas.microsoft.com/office/drawing/2014/main" id="{2C2B1331-2118-B6A0-0795-F163D854178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17038DD-04E9-1F92-3D7B-6AB4DF5ECE2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68693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DC2716-63FB-35DD-5BA5-4C6333B389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A496F2E-DBB7-6EAC-0792-B59B96A0D8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A0032D1-1A31-03A5-9AAB-B25FB3ECA1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E90999-4AC9-4858-97DA-986D8D7362D0}" type="datetime9">
              <a:rPr lang="en-US" smtClean="0"/>
              <a:t>5/16/2026 10:59:47 PM</a:t>
            </a:fld>
            <a:endParaRPr lang="en-CA"/>
          </a:p>
        </p:txBody>
      </p:sp>
      <p:sp>
        <p:nvSpPr>
          <p:cNvPr id="5" name="Footer Placeholder 4">
            <a:extLst>
              <a:ext uri="{FF2B5EF4-FFF2-40B4-BE49-F238E27FC236}">
                <a16:creationId xmlns:a16="http://schemas.microsoft.com/office/drawing/2014/main" id="{F7E79CCB-E80B-6B5A-34EE-243C78E58E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5228F179-7222-EF33-7FF2-3DD2091FC6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07904904"/>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mailto:atik.mahabub@inrs.ca"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23.png"/><Relationship Id="rId4" Type="http://schemas.openxmlformats.org/officeDocument/2006/relationships/image" Target="../media/image22.gif"/></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1" y="0"/>
            <a:ext cx="2484582" cy="6858000"/>
          </a:xfrm>
          <a:prstGeom prst="rect">
            <a:avLst/>
          </a:prstGeom>
          <a:noFill/>
          <a:ln>
            <a:noFill/>
          </a:ln>
        </p:spPr>
      </p:pic>
      <p:sp>
        <p:nvSpPr>
          <p:cNvPr id="85" name="Google Shape;85;p13"/>
          <p:cNvSpPr txBox="1"/>
          <p:nvPr/>
        </p:nvSpPr>
        <p:spPr>
          <a:xfrm>
            <a:off x="2979084" y="918402"/>
            <a:ext cx="8844002" cy="1274195"/>
          </a:xfrm>
          <a:prstGeom prst="rect">
            <a:avLst/>
          </a:prstGeom>
          <a:noFill/>
          <a:ln>
            <a:noFill/>
          </a:ln>
        </p:spPr>
        <p:txBody>
          <a:bodyPr spcFirstLastPara="1" wrap="square" lIns="0" tIns="0" rIns="0" bIns="0" anchor="t" anchorCtr="0">
            <a:spAutoFit/>
          </a:bodyPr>
          <a:lstStyle/>
          <a:p>
            <a:pPr algn="ctr">
              <a:lnSpc>
                <a:spcPct val="115000"/>
              </a:lnSpc>
            </a:pPr>
            <a:r>
              <a:rPr lang="en-US" sz="3600" b="1" dirty="0">
                <a:solidFill>
                  <a:schemeClr val="tx2"/>
                </a:solidFill>
                <a:latin typeface="Microsoft GothicNeo" panose="020B0500000101010101" pitchFamily="34" charset="-127"/>
                <a:ea typeface="Microsoft GothicNeo" panose="020B0500000101010101" pitchFamily="34" charset="-127"/>
                <a:cs typeface="Microsoft GothicNeo" panose="020B0500000101010101" pitchFamily="34" charset="-127"/>
                <a:sym typeface="Poppins"/>
              </a:rPr>
              <a:t>Deep Spectrum Sensing Under Realistic RF Conditions: A Cross-Dataset Study</a:t>
            </a:r>
            <a:endParaRPr sz="3600" dirty="0">
              <a:solidFill>
                <a:schemeClr val="tx2"/>
              </a:solidFill>
            </a:endParaRPr>
          </a:p>
        </p:txBody>
      </p:sp>
      <p:sp>
        <p:nvSpPr>
          <p:cNvPr id="2" name="Slide Number Placeholder 1">
            <a:extLst>
              <a:ext uri="{FF2B5EF4-FFF2-40B4-BE49-F238E27FC236}">
                <a16:creationId xmlns:a16="http://schemas.microsoft.com/office/drawing/2014/main" id="{4EF4241B-6459-1D8F-C6E6-6DFC2FCBE10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pic>
        <p:nvPicPr>
          <p:cNvPr id="3" name="Picture 2" descr="A picture containing text, sign&#10;&#10;Description automatically generated">
            <a:extLst>
              <a:ext uri="{FF2B5EF4-FFF2-40B4-BE49-F238E27FC236}">
                <a16:creationId xmlns:a16="http://schemas.microsoft.com/office/drawing/2014/main" id="{76CEC781-BDCA-55AF-89AE-3563D7BEDF0E}"/>
              </a:ext>
            </a:extLst>
          </p:cNvPr>
          <p:cNvPicPr>
            <a:picLocks noChangeAspect="1"/>
          </p:cNvPicPr>
          <p:nvPr/>
        </p:nvPicPr>
        <p:blipFill>
          <a:blip r:embed="rId4">
            <a:lum bright="70000" contrast="-70000"/>
            <a:alphaModFix/>
            <a:extLst>
              <a:ext uri="{28A0092B-C50C-407E-A947-70E740481C1C}">
                <a14:useLocalDpi xmlns:a14="http://schemas.microsoft.com/office/drawing/2010/main" val="0"/>
              </a:ext>
            </a:extLst>
          </a:blip>
          <a:stretch>
            <a:fillRect/>
          </a:stretch>
        </p:blipFill>
        <p:spPr>
          <a:xfrm>
            <a:off x="208371" y="740826"/>
            <a:ext cx="1915438" cy="1165225"/>
          </a:xfrm>
          <a:prstGeom prst="rect">
            <a:avLst/>
          </a:prstGeom>
        </p:spPr>
      </p:pic>
      <p:pic>
        <p:nvPicPr>
          <p:cNvPr id="4" name="Picture 3">
            <a:extLst>
              <a:ext uri="{FF2B5EF4-FFF2-40B4-BE49-F238E27FC236}">
                <a16:creationId xmlns:a16="http://schemas.microsoft.com/office/drawing/2014/main" id="{E1D867B0-FD15-4A58-163E-09A6C14E900C}"/>
              </a:ext>
            </a:extLst>
          </p:cNvPr>
          <p:cNvPicPr>
            <a:picLocks noChangeAspect="1"/>
          </p:cNvPicPr>
          <p:nvPr/>
        </p:nvPicPr>
        <p:blipFill>
          <a:blip r:embed="rId5"/>
          <a:stretch>
            <a:fillRect/>
          </a:stretch>
        </p:blipFill>
        <p:spPr>
          <a:xfrm>
            <a:off x="10501744" y="5094470"/>
            <a:ext cx="1690255" cy="1690255"/>
          </a:xfrm>
          <a:prstGeom prst="rect">
            <a:avLst/>
          </a:prstGeom>
        </p:spPr>
      </p:pic>
      <p:pic>
        <p:nvPicPr>
          <p:cNvPr id="27" name="Picture 26">
            <a:extLst>
              <a:ext uri="{FF2B5EF4-FFF2-40B4-BE49-F238E27FC236}">
                <a16:creationId xmlns:a16="http://schemas.microsoft.com/office/drawing/2014/main" id="{C9CDEE1E-7F97-55C8-B6B5-C0EFE83E674D}"/>
              </a:ext>
            </a:extLst>
          </p:cNvPr>
          <p:cNvPicPr>
            <a:picLocks noChangeAspect="1"/>
          </p:cNvPicPr>
          <p:nvPr/>
        </p:nvPicPr>
        <p:blipFill>
          <a:blip r:embed="rId6"/>
          <a:stretch>
            <a:fillRect/>
          </a:stretch>
        </p:blipFill>
        <p:spPr>
          <a:xfrm>
            <a:off x="231750" y="3122905"/>
            <a:ext cx="1357378" cy="1268760"/>
          </a:xfrm>
          <a:prstGeom prst="rect">
            <a:avLst/>
          </a:prstGeom>
        </p:spPr>
      </p:pic>
      <p:sp>
        <p:nvSpPr>
          <p:cNvPr id="28" name="TextBox 27">
            <a:extLst>
              <a:ext uri="{FF2B5EF4-FFF2-40B4-BE49-F238E27FC236}">
                <a16:creationId xmlns:a16="http://schemas.microsoft.com/office/drawing/2014/main" id="{CAD0EF18-08F3-90FE-6F07-709BD5C45D78}"/>
              </a:ext>
            </a:extLst>
          </p:cNvPr>
          <p:cNvSpPr txBox="1"/>
          <p:nvPr/>
        </p:nvSpPr>
        <p:spPr>
          <a:xfrm>
            <a:off x="150667" y="4317706"/>
            <a:ext cx="2236534" cy="1323439"/>
          </a:xfrm>
          <a:prstGeom prst="rect">
            <a:avLst/>
          </a:prstGeom>
          <a:noFill/>
        </p:spPr>
        <p:txBody>
          <a:bodyPr wrap="square" rtlCol="0">
            <a:spAutoFit/>
          </a:bodyPr>
          <a:lstStyle/>
          <a:p>
            <a:r>
              <a:rPr lang="en-US" sz="1600" b="1" dirty="0">
                <a:solidFill>
                  <a:schemeClr val="bg2">
                    <a:lumMod val="75000"/>
                  </a:schemeClr>
                </a:solidFill>
                <a:latin typeface="Bahnschrift" pitchFamily="34" charset="0"/>
              </a:rPr>
              <a:t>ECCoLe</a:t>
            </a:r>
          </a:p>
          <a:p>
            <a:r>
              <a:rPr lang="en-US" sz="1600" dirty="0">
                <a:solidFill>
                  <a:schemeClr val="bg1">
                    <a:lumMod val="85000"/>
                  </a:schemeClr>
                </a:solidFill>
                <a:latin typeface="Bahnschrift" pitchFamily="34" charset="0"/>
              </a:rPr>
              <a:t>Edge Computing, Communication and Learning Lab </a:t>
            </a:r>
          </a:p>
          <a:p>
            <a:pPr algn="ctr"/>
            <a:endParaRPr lang="en-CA" sz="1600" dirty="0">
              <a:solidFill>
                <a:schemeClr val="tx2">
                  <a:lumMod val="20000"/>
                  <a:lumOff val="80000"/>
                </a:schemeClr>
              </a:solidFill>
              <a:latin typeface="Bahnschrift" pitchFamily="34" charset="0"/>
            </a:endParaRPr>
          </a:p>
        </p:txBody>
      </p:sp>
      <p:sp>
        <p:nvSpPr>
          <p:cNvPr id="5" name="TextBox 4">
            <a:extLst>
              <a:ext uri="{FF2B5EF4-FFF2-40B4-BE49-F238E27FC236}">
                <a16:creationId xmlns:a16="http://schemas.microsoft.com/office/drawing/2014/main" id="{F6622195-8B80-5B4D-16F9-A607DFB5F256}"/>
              </a:ext>
            </a:extLst>
          </p:cNvPr>
          <p:cNvSpPr txBox="1"/>
          <p:nvPr/>
        </p:nvSpPr>
        <p:spPr>
          <a:xfrm>
            <a:off x="4295808" y="2566580"/>
            <a:ext cx="6210554" cy="923330"/>
          </a:xfrm>
          <a:prstGeom prst="rect">
            <a:avLst/>
          </a:prstGeom>
          <a:noFill/>
        </p:spPr>
        <p:txBody>
          <a:bodyPr wrap="square" rtlCol="0">
            <a:spAutoFit/>
          </a:bodyPr>
          <a:lstStyle/>
          <a:p>
            <a:pPr algn="ctr"/>
            <a:r>
              <a:rPr lang="en-US" b="1" dirty="0"/>
              <a:t>Atik Mahabub, Mouna Djellouli, and Shervin Vakili</a:t>
            </a:r>
          </a:p>
          <a:p>
            <a:pPr algn="ctr"/>
            <a:r>
              <a:rPr lang="fr-FR" b="1" dirty="0"/>
              <a:t>INRS-EMT, </a:t>
            </a:r>
            <a:r>
              <a:rPr lang="en-US" b="1" dirty="0"/>
              <a:t>Montreal, Canada</a:t>
            </a:r>
          </a:p>
          <a:p>
            <a:pPr algn="ctr"/>
            <a:r>
              <a:rPr lang="en-US" b="1" dirty="0"/>
              <a:t>{</a:t>
            </a:r>
            <a:r>
              <a:rPr lang="en-US" b="1" dirty="0" err="1"/>
              <a:t>atik.mahabub</a:t>
            </a:r>
            <a:r>
              <a:rPr lang="en-US" b="1" dirty="0"/>
              <a:t>, </a:t>
            </a:r>
            <a:r>
              <a:rPr lang="en-US" b="1" dirty="0" err="1"/>
              <a:t>mouna.djellouli</a:t>
            </a:r>
            <a:r>
              <a:rPr lang="en-US" b="1" dirty="0"/>
              <a:t>, </a:t>
            </a:r>
            <a:r>
              <a:rPr lang="en-US" b="1" dirty="0" err="1"/>
              <a:t>shervin.vakili</a:t>
            </a:r>
            <a:r>
              <a:rPr lang="en-US" b="1" dirty="0"/>
              <a:t>}@inrs.ca</a:t>
            </a:r>
          </a:p>
        </p:txBody>
      </p:sp>
      <p:sp>
        <p:nvSpPr>
          <p:cNvPr id="7" name="TextBox 6">
            <a:extLst>
              <a:ext uri="{FF2B5EF4-FFF2-40B4-BE49-F238E27FC236}">
                <a16:creationId xmlns:a16="http://schemas.microsoft.com/office/drawing/2014/main" id="{5504C23D-61F6-0144-4739-72268C82BCD9}"/>
              </a:ext>
            </a:extLst>
          </p:cNvPr>
          <p:cNvSpPr txBox="1"/>
          <p:nvPr/>
        </p:nvSpPr>
        <p:spPr>
          <a:xfrm>
            <a:off x="3363028" y="4369132"/>
            <a:ext cx="4680833" cy="1200329"/>
          </a:xfrm>
          <a:prstGeom prst="rect">
            <a:avLst/>
          </a:prstGeom>
          <a:noFill/>
        </p:spPr>
        <p:txBody>
          <a:bodyPr wrap="none" rtlCol="0">
            <a:spAutoFit/>
          </a:bodyPr>
          <a:lstStyle/>
          <a:p>
            <a:r>
              <a:rPr lang="en-US" b="1" dirty="0">
                <a:solidFill>
                  <a:schemeClr val="tx2">
                    <a:lumMod val="90000"/>
                    <a:lumOff val="10000"/>
                  </a:schemeClr>
                </a:solidFill>
              </a:rPr>
              <a:t>Presented By: Atik Mahabub</a:t>
            </a:r>
          </a:p>
          <a:p>
            <a:r>
              <a:rPr lang="en-US" b="1" dirty="0">
                <a:solidFill>
                  <a:schemeClr val="tx2">
                    <a:lumMod val="90000"/>
                    <a:lumOff val="10000"/>
                  </a:schemeClr>
                </a:solidFill>
              </a:rPr>
              <a:t>PhD, Student, </a:t>
            </a:r>
            <a:r>
              <a:rPr lang="fr-FR" b="1" dirty="0">
                <a:solidFill>
                  <a:schemeClr val="tx2">
                    <a:lumMod val="90000"/>
                    <a:lumOff val="10000"/>
                  </a:schemeClr>
                </a:solidFill>
              </a:rPr>
              <a:t>INRS-EMT, </a:t>
            </a:r>
            <a:r>
              <a:rPr lang="en-US" b="1" dirty="0">
                <a:solidFill>
                  <a:schemeClr val="tx2">
                    <a:lumMod val="90000"/>
                    <a:lumOff val="10000"/>
                  </a:schemeClr>
                </a:solidFill>
              </a:rPr>
              <a:t>Montreal, Canada</a:t>
            </a:r>
          </a:p>
          <a:p>
            <a:r>
              <a:rPr lang="en-US" b="1" dirty="0">
                <a:solidFill>
                  <a:schemeClr val="tx2">
                    <a:lumMod val="90000"/>
                    <a:lumOff val="10000"/>
                  </a:schemeClr>
                </a:solidFill>
              </a:rPr>
              <a:t>Email: </a:t>
            </a:r>
            <a:r>
              <a:rPr lang="en-US" b="1" dirty="0">
                <a:solidFill>
                  <a:schemeClr val="tx2">
                    <a:lumMod val="90000"/>
                    <a:lumOff val="10000"/>
                  </a:schemeClr>
                </a:solidFill>
                <a:hlinkClick r:id="rId7"/>
              </a:rPr>
              <a:t>atik.mahabub@inrs.ca</a:t>
            </a:r>
            <a:endParaRPr lang="en-US" b="1" dirty="0">
              <a:solidFill>
                <a:schemeClr val="tx2">
                  <a:lumMod val="90000"/>
                  <a:lumOff val="10000"/>
                </a:schemeClr>
              </a:solidFill>
            </a:endParaRPr>
          </a:p>
          <a:p>
            <a:r>
              <a:rPr lang="en-US" b="1" dirty="0">
                <a:solidFill>
                  <a:schemeClr val="tx2">
                    <a:lumMod val="90000"/>
                    <a:lumOff val="10000"/>
                  </a:schemeClr>
                </a:solidFill>
              </a:rPr>
              <a:t>Date: May 19, 2026</a:t>
            </a:r>
          </a:p>
        </p:txBody>
      </p:sp>
      <p:sp>
        <p:nvSpPr>
          <p:cNvPr id="8" name="Date Placeholder 7">
            <a:extLst>
              <a:ext uri="{FF2B5EF4-FFF2-40B4-BE49-F238E27FC236}">
                <a16:creationId xmlns:a16="http://schemas.microsoft.com/office/drawing/2014/main" id="{5C97E8B0-56E1-9AD7-F5C1-C276C14F193A}"/>
              </a:ext>
            </a:extLst>
          </p:cNvPr>
          <p:cNvSpPr>
            <a:spLocks noGrp="1"/>
          </p:cNvSpPr>
          <p:nvPr>
            <p:ph type="dt" sz="half" idx="10"/>
          </p:nvPr>
        </p:nvSpPr>
        <p:spPr>
          <a:xfrm>
            <a:off x="7459929" y="6356350"/>
            <a:ext cx="2743200" cy="365125"/>
          </a:xfrm>
        </p:spPr>
        <p:txBody>
          <a:bodyPr/>
          <a:lstStyle/>
          <a:p>
            <a:fld id="{8D7214C1-C505-476B-BCEF-6F78AA864C2C}" type="datetime9">
              <a:rPr lang="en-US" b="1" smtClean="0">
                <a:solidFill>
                  <a:srgbClr val="7030A0"/>
                </a:solidFill>
              </a:rPr>
              <a:t>5/16/2026 10:59:47 PM</a:t>
            </a:fld>
            <a:endParaRPr lang="en-CA" b="1"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5" name="Google Shape;95;p14"/>
          <p:cNvSpPr txBox="1"/>
          <p:nvPr/>
        </p:nvSpPr>
        <p:spPr>
          <a:xfrm>
            <a:off x="2435542" y="2749004"/>
            <a:ext cx="7320915" cy="83099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1" i="0" u="none" strike="noStrike" cap="none" dirty="0">
                <a:solidFill>
                  <a:schemeClr val="tx2"/>
                </a:solidFill>
                <a:latin typeface="+mj-lt"/>
                <a:ea typeface="Poppins"/>
                <a:cs typeface="Poppins"/>
                <a:sym typeface="Poppins"/>
              </a:rPr>
              <a:t>1. Research Objectives</a:t>
            </a:r>
            <a:endParaRPr sz="5400" dirty="0">
              <a:solidFill>
                <a:schemeClr val="tx2"/>
              </a:solidFill>
              <a:latin typeface="+mj-lt"/>
            </a:endParaRPr>
          </a:p>
        </p:txBody>
      </p:sp>
      <p:sp>
        <p:nvSpPr>
          <p:cNvPr id="96" name="Google Shape;96;p14"/>
          <p:cNvSpPr txBox="1"/>
          <p:nvPr/>
        </p:nvSpPr>
        <p:spPr>
          <a:xfrm>
            <a:off x="2360770" y="3765045"/>
            <a:ext cx="7470458" cy="886397"/>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1" i="0" u="none" strike="noStrike" cap="none" dirty="0">
                <a:solidFill>
                  <a:schemeClr val="accent1"/>
                </a:solidFill>
                <a:latin typeface="Inter"/>
                <a:ea typeface="Inter"/>
                <a:cs typeface="Inter"/>
                <a:sym typeface="Inter"/>
              </a:rPr>
              <a:t>Defining the core challenges in spectrum allocation and outlining the path to robust, machine learning-driven solutions.</a:t>
            </a:r>
            <a:endParaRPr b="1" dirty="0">
              <a:solidFill>
                <a:schemeClr val="accent1"/>
              </a:solidFill>
            </a:endParaRPr>
          </a:p>
        </p:txBody>
      </p:sp>
      <p:sp>
        <p:nvSpPr>
          <p:cNvPr id="2" name="Slide Number Placeholder 1">
            <a:extLst>
              <a:ext uri="{FF2B5EF4-FFF2-40B4-BE49-F238E27FC236}">
                <a16:creationId xmlns:a16="http://schemas.microsoft.com/office/drawing/2014/main" id="{FF4A0B8D-88FF-F64E-DA5F-6F6B0595E23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b="1" smtClean="0"/>
              <a:t>2</a:t>
            </a:fld>
            <a:endParaRPr lang="en-US" b="1" dirty="0"/>
          </a:p>
        </p:txBody>
      </p:sp>
      <p:sp>
        <p:nvSpPr>
          <p:cNvPr id="3" name="Date Placeholder 2">
            <a:extLst>
              <a:ext uri="{FF2B5EF4-FFF2-40B4-BE49-F238E27FC236}">
                <a16:creationId xmlns:a16="http://schemas.microsoft.com/office/drawing/2014/main" id="{243E740C-551F-32C7-2B5D-3694448203F9}"/>
              </a:ext>
            </a:extLst>
          </p:cNvPr>
          <p:cNvSpPr>
            <a:spLocks noGrp="1"/>
          </p:cNvSpPr>
          <p:nvPr>
            <p:ph type="dt" sz="half" idx="10"/>
          </p:nvPr>
        </p:nvSpPr>
        <p:spPr>
          <a:xfrm>
            <a:off x="9349902" y="6356349"/>
            <a:ext cx="2743200" cy="365125"/>
          </a:xfrm>
        </p:spPr>
        <p:txBody>
          <a:bodyPr/>
          <a:lstStyle/>
          <a:p>
            <a:fld id="{651C54B7-184C-4A60-B7EC-C16E4B96EE89}" type="datetime9">
              <a:rPr lang="en-US" b="1" smtClean="0">
                <a:solidFill>
                  <a:srgbClr val="7030A0"/>
                </a:solidFill>
              </a:rPr>
              <a:t>5/16/2026 10:59:48 PM</a:t>
            </a:fld>
            <a:endParaRPr lang="en-CA" b="1" dirty="0">
              <a:solidFill>
                <a:srgbClr val="7030A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3" name="Google Shape;103;p15"/>
          <p:cNvSpPr txBox="1"/>
          <p:nvPr/>
        </p:nvSpPr>
        <p:spPr>
          <a:xfrm>
            <a:off x="639007" y="1431920"/>
            <a:ext cx="6974760" cy="1329595"/>
          </a:xfrm>
          <a:prstGeom prst="rect">
            <a:avLst/>
          </a:prstGeom>
          <a:noFill/>
          <a:ln>
            <a:noFill/>
          </a:ln>
        </p:spPr>
        <p:txBody>
          <a:bodyPr spcFirstLastPara="1" wrap="square" lIns="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b="0" i="0" u="none" strike="noStrike" cap="none" dirty="0">
                <a:latin typeface="Inter"/>
                <a:ea typeface="Inter"/>
                <a:cs typeface="Inter"/>
                <a:sym typeface="Inter"/>
              </a:rPr>
              <a:t>The rapid expansion of 5G and the impending dawn of 6G connectivity have placed unprecedented strain on the limited radio-frequency (RF) spectrum.</a:t>
            </a:r>
            <a:endParaRPr dirty="0"/>
          </a:p>
        </p:txBody>
      </p:sp>
      <p:sp>
        <p:nvSpPr>
          <p:cNvPr id="104" name="Google Shape;104;p15"/>
          <p:cNvSpPr txBox="1"/>
          <p:nvPr/>
        </p:nvSpPr>
        <p:spPr>
          <a:xfrm>
            <a:off x="561977" y="2921769"/>
            <a:ext cx="7262587" cy="1329595"/>
          </a:xfrm>
          <a:prstGeom prst="rect">
            <a:avLst/>
          </a:prstGeom>
          <a:noFill/>
          <a:ln>
            <a:noFill/>
          </a:ln>
        </p:spPr>
        <p:txBody>
          <a:bodyPr spcFirstLastPara="1" wrap="square" lIns="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b="1" i="0" u="none" strike="noStrike" cap="none" dirty="0">
                <a:latin typeface="Inter"/>
                <a:ea typeface="Inter"/>
                <a:cs typeface="Inter"/>
                <a:sym typeface="Inter"/>
              </a:rPr>
              <a:t>Cognitive Radio (CR)</a:t>
            </a:r>
            <a:r>
              <a:rPr lang="en-US" b="0" i="0" u="none" strike="noStrike" cap="none" dirty="0">
                <a:latin typeface="Inter"/>
                <a:ea typeface="Inter"/>
                <a:cs typeface="Inter"/>
                <a:sym typeface="Inter"/>
              </a:rPr>
              <a:t> addresses this scarcity by enabling secondary users (SUs) to opportunistically utilize idle frequency bands without causing interference to primary users (PUs).</a:t>
            </a:r>
            <a:endParaRPr dirty="0"/>
          </a:p>
        </p:txBody>
      </p:sp>
      <p:sp>
        <p:nvSpPr>
          <p:cNvPr id="105" name="Google Shape;105;p15"/>
          <p:cNvSpPr txBox="1"/>
          <p:nvPr/>
        </p:nvSpPr>
        <p:spPr>
          <a:xfrm>
            <a:off x="561977" y="4439682"/>
            <a:ext cx="7364156" cy="1329595"/>
          </a:xfrm>
          <a:prstGeom prst="rect">
            <a:avLst/>
          </a:prstGeom>
          <a:noFill/>
          <a:ln>
            <a:noFill/>
          </a:ln>
        </p:spPr>
        <p:txBody>
          <a:bodyPr spcFirstLastPara="1" wrap="square" lIns="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b="0" i="0" u="none" strike="noStrike" cap="none" dirty="0">
                <a:latin typeface="Inter"/>
                <a:ea typeface="Inter"/>
                <a:cs typeface="Inter"/>
                <a:sym typeface="Inter"/>
              </a:rPr>
              <a:t>However, successful CR operation hinges on </a:t>
            </a:r>
            <a:r>
              <a:rPr lang="en-US" b="1" i="0" u="none" strike="noStrike" cap="none" dirty="0">
                <a:latin typeface="Inter SemiBold"/>
                <a:ea typeface="Inter SemiBold"/>
                <a:cs typeface="Inter SemiBold"/>
                <a:sym typeface="Inter SemiBold"/>
              </a:rPr>
              <a:t>highly reliable spectrum sensing</a:t>
            </a:r>
            <a:r>
              <a:rPr lang="en-US" b="0" i="0" u="none" strike="noStrike" cap="none" dirty="0">
                <a:latin typeface="Inter"/>
                <a:ea typeface="Inter"/>
                <a:cs typeface="Inter"/>
                <a:sym typeface="Inter"/>
              </a:rPr>
              <a:t>, particularly when signals are buried in severe noise (low SNR) and realistic channel fading.</a:t>
            </a:r>
            <a:endParaRPr dirty="0"/>
          </a:p>
        </p:txBody>
      </p:sp>
      <p:sp>
        <p:nvSpPr>
          <p:cNvPr id="107" name="Google Shape;107;p15"/>
          <p:cNvSpPr txBox="1"/>
          <p:nvPr/>
        </p:nvSpPr>
        <p:spPr>
          <a:xfrm>
            <a:off x="571500" y="571500"/>
            <a:ext cx="6267045"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dirty="0">
                <a:solidFill>
                  <a:schemeClr val="tx2"/>
                </a:solidFill>
                <a:latin typeface="+mj-lt"/>
                <a:ea typeface="Poppins SemiBold"/>
                <a:cs typeface="Poppins SemiBold"/>
                <a:sym typeface="Poppins SemiBold"/>
              </a:rPr>
              <a:t>The Cognitive Radio Imperative</a:t>
            </a:r>
            <a:endParaRPr sz="3200" b="1" dirty="0">
              <a:solidFill>
                <a:schemeClr val="tx2"/>
              </a:solidFill>
              <a:latin typeface="+mj-lt"/>
            </a:endParaRPr>
          </a:p>
        </p:txBody>
      </p:sp>
      <p:sp>
        <p:nvSpPr>
          <p:cNvPr id="2" name="Slide Number Placeholder 1">
            <a:extLst>
              <a:ext uri="{FF2B5EF4-FFF2-40B4-BE49-F238E27FC236}">
                <a16:creationId xmlns:a16="http://schemas.microsoft.com/office/drawing/2014/main" id="{B3CF2877-9658-5BFE-AA7C-D367FE8D2F2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b="1" smtClean="0"/>
              <a:t>3</a:t>
            </a:fld>
            <a:endParaRPr lang="en-US" b="1" dirty="0"/>
          </a:p>
        </p:txBody>
      </p:sp>
      <p:sp>
        <p:nvSpPr>
          <p:cNvPr id="3" name="Google Shape;113;p16">
            <a:extLst>
              <a:ext uri="{FF2B5EF4-FFF2-40B4-BE49-F238E27FC236}">
                <a16:creationId xmlns:a16="http://schemas.microsoft.com/office/drawing/2014/main" id="{D5FDB35D-6DA4-13A4-6A80-C40CD90A32CC}"/>
              </a:ext>
            </a:extLst>
          </p:cNvPr>
          <p:cNvSpPr txBox="1"/>
          <p:nvPr/>
        </p:nvSpPr>
        <p:spPr>
          <a:xfrm>
            <a:off x="9168696" y="2390254"/>
            <a:ext cx="2461327" cy="207749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3500" b="1" i="0" u="none" strike="noStrike" cap="none" dirty="0">
                <a:solidFill>
                  <a:srgbClr val="00E5FF"/>
                </a:solidFill>
                <a:latin typeface="Poppins"/>
                <a:ea typeface="Poppins"/>
                <a:cs typeface="Poppins"/>
                <a:sym typeface="Poppins"/>
              </a:rPr>
              <a:t>5G</a:t>
            </a:r>
            <a:endParaRPr dirty="0"/>
          </a:p>
        </p:txBody>
      </p:sp>
      <p:pic>
        <p:nvPicPr>
          <p:cNvPr id="4" name="Picture 3">
            <a:extLst>
              <a:ext uri="{FF2B5EF4-FFF2-40B4-BE49-F238E27FC236}">
                <a16:creationId xmlns:a16="http://schemas.microsoft.com/office/drawing/2014/main" id="{A5E85607-64DE-5A25-6CC6-4133C892E4E1}"/>
              </a:ext>
            </a:extLst>
          </p:cNvPr>
          <p:cNvPicPr>
            <a:picLocks noChangeAspect="1"/>
          </p:cNvPicPr>
          <p:nvPr/>
        </p:nvPicPr>
        <p:blipFill>
          <a:blip r:embed="rId3"/>
          <a:stretch>
            <a:fillRect/>
          </a:stretch>
        </p:blipFill>
        <p:spPr>
          <a:xfrm>
            <a:off x="76204" y="5868185"/>
            <a:ext cx="903221" cy="903221"/>
          </a:xfrm>
          <a:prstGeom prst="rect">
            <a:avLst/>
          </a:prstGeom>
        </p:spPr>
      </p:pic>
      <p:sp>
        <p:nvSpPr>
          <p:cNvPr id="5" name="Google Shape;144;p18">
            <a:extLst>
              <a:ext uri="{FF2B5EF4-FFF2-40B4-BE49-F238E27FC236}">
                <a16:creationId xmlns:a16="http://schemas.microsoft.com/office/drawing/2014/main" id="{B1256D29-5829-2203-783C-06FE7C25BBF8}"/>
              </a:ext>
            </a:extLst>
          </p:cNvPr>
          <p:cNvSpPr/>
          <p:nvPr/>
        </p:nvSpPr>
        <p:spPr>
          <a:xfrm flipH="1">
            <a:off x="9046147" y="2592369"/>
            <a:ext cx="45719" cy="1508288"/>
          </a:xfrm>
          <a:prstGeom prst="rect">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 name="Date Placeholder 7">
            <a:extLst>
              <a:ext uri="{FF2B5EF4-FFF2-40B4-BE49-F238E27FC236}">
                <a16:creationId xmlns:a16="http://schemas.microsoft.com/office/drawing/2014/main" id="{F3308384-4288-171A-406C-C251B823E37A}"/>
              </a:ext>
            </a:extLst>
          </p:cNvPr>
          <p:cNvSpPr>
            <a:spLocks noGrp="1"/>
          </p:cNvSpPr>
          <p:nvPr>
            <p:ph type="dt" sz="half" idx="10"/>
          </p:nvPr>
        </p:nvSpPr>
        <p:spPr>
          <a:xfrm>
            <a:off x="8610600" y="6356350"/>
            <a:ext cx="2743200" cy="365125"/>
          </a:xfrm>
        </p:spPr>
        <p:txBody>
          <a:bodyPr/>
          <a:lstStyle/>
          <a:p>
            <a:fld id="{77AAFA70-9780-43AA-A76F-2BA376537AB8}" type="datetime9">
              <a:rPr lang="en-US" b="1" smtClean="0">
                <a:solidFill>
                  <a:srgbClr val="7030A0"/>
                </a:solidFill>
              </a:rPr>
              <a:t>5/16/2026 10:59:48 PM</a:t>
            </a:fld>
            <a:endParaRPr lang="en-CA" b="1" dirty="0">
              <a:solidFill>
                <a:srgbClr val="7030A0"/>
              </a:solidFill>
            </a:endParaRPr>
          </a:p>
        </p:txBody>
      </p:sp>
      <p:pic>
        <p:nvPicPr>
          <p:cNvPr id="7" name="Picture 6">
            <a:extLst>
              <a:ext uri="{FF2B5EF4-FFF2-40B4-BE49-F238E27FC236}">
                <a16:creationId xmlns:a16="http://schemas.microsoft.com/office/drawing/2014/main" id="{22F19763-1160-BB94-D8D4-8F6E3AF1F3A5}"/>
              </a:ext>
            </a:extLst>
          </p:cNvPr>
          <p:cNvPicPr>
            <a:picLocks noChangeAspect="1"/>
          </p:cNvPicPr>
          <p:nvPr/>
        </p:nvPicPr>
        <p:blipFill>
          <a:blip r:embed="rId4"/>
          <a:stretch>
            <a:fillRect/>
          </a:stretch>
        </p:blipFill>
        <p:spPr>
          <a:xfrm>
            <a:off x="8113575" y="1955260"/>
            <a:ext cx="3907935" cy="29716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3" name="Google Shape;113;p16"/>
          <p:cNvSpPr txBox="1"/>
          <p:nvPr/>
        </p:nvSpPr>
        <p:spPr>
          <a:xfrm>
            <a:off x="-98756" y="2703724"/>
            <a:ext cx="4067441" cy="184665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2000" b="1" i="0" u="none" strike="noStrike" cap="none" dirty="0">
                <a:solidFill>
                  <a:srgbClr val="00E5FF"/>
                </a:solidFill>
                <a:latin typeface="Poppins"/>
                <a:ea typeface="Poppins"/>
                <a:cs typeface="Poppins"/>
                <a:sym typeface="Poppins"/>
              </a:rPr>
              <a:t>6G</a:t>
            </a:r>
            <a:endParaRPr sz="12000" dirty="0"/>
          </a:p>
        </p:txBody>
      </p:sp>
      <p:sp>
        <p:nvSpPr>
          <p:cNvPr id="114" name="Google Shape;114;p16"/>
          <p:cNvSpPr txBox="1"/>
          <p:nvPr/>
        </p:nvSpPr>
        <p:spPr>
          <a:xfrm>
            <a:off x="465604" y="4550383"/>
            <a:ext cx="3221179" cy="3714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dirty="0">
                <a:solidFill>
                  <a:schemeClr val="accent1"/>
                </a:solidFill>
                <a:latin typeface="Inter SemiBold"/>
                <a:ea typeface="Inter SemiBold"/>
                <a:cs typeface="Inter SemiBold"/>
                <a:sym typeface="Inter SemiBold"/>
              </a:rPr>
              <a:t>Imminent Deployment</a:t>
            </a:r>
            <a:endParaRPr dirty="0">
              <a:solidFill>
                <a:schemeClr val="accent1"/>
              </a:solidFill>
            </a:endParaRPr>
          </a:p>
        </p:txBody>
      </p:sp>
      <p:sp>
        <p:nvSpPr>
          <p:cNvPr id="115" name="Google Shape;115;p16"/>
          <p:cNvSpPr txBox="1"/>
          <p:nvPr/>
        </p:nvSpPr>
        <p:spPr>
          <a:xfrm>
            <a:off x="4588573" y="1763945"/>
            <a:ext cx="5885693"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dirty="0">
                <a:latin typeface="+mj-lt"/>
                <a:ea typeface="Poppins SemiBold"/>
                <a:cs typeface="Poppins SemiBold"/>
                <a:sym typeface="Poppins SemiBold"/>
              </a:rPr>
              <a:t>Exploding Bandwidth Demand</a:t>
            </a:r>
            <a:endParaRPr sz="3200" b="1" dirty="0">
              <a:latin typeface="+mj-lt"/>
            </a:endParaRPr>
          </a:p>
        </p:txBody>
      </p:sp>
      <p:sp>
        <p:nvSpPr>
          <p:cNvPr id="116" name="Google Shape;116;p16"/>
          <p:cNvSpPr txBox="1"/>
          <p:nvPr/>
        </p:nvSpPr>
        <p:spPr>
          <a:xfrm>
            <a:off x="4277288" y="2421087"/>
            <a:ext cx="7556674" cy="3447098"/>
          </a:xfrm>
          <a:prstGeom prst="rect">
            <a:avLst/>
          </a:prstGeom>
          <a:noFill/>
          <a:ln>
            <a:noFill/>
          </a:ln>
        </p:spPr>
        <p:txBody>
          <a:bodyPr spcFirstLastPara="1" wrap="square" lIns="0" tIns="0" rIns="0" bIns="0" anchor="t" anchorCtr="0">
            <a:spAutoFit/>
          </a:bodyPr>
          <a:lstStyle/>
          <a:p>
            <a:pPr marL="285750" marR="0" lvl="0" indent="-285750" rtl="0">
              <a:lnSpc>
                <a:spcPct val="160000"/>
              </a:lnSpc>
              <a:spcBef>
                <a:spcPts val="0"/>
              </a:spcBef>
              <a:spcAft>
                <a:spcPts val="0"/>
              </a:spcAft>
              <a:buFont typeface="Arial" panose="020B0604020202020204" pitchFamily="34" charset="0"/>
              <a:buChar char="•"/>
            </a:pPr>
            <a:r>
              <a:rPr lang="en-US" sz="2000" b="0" i="0" u="none" strike="noStrike" cap="none" dirty="0">
                <a:latin typeface="Inter"/>
                <a:ea typeface="Inter"/>
                <a:cs typeface="Inter"/>
                <a:sym typeface="Inter"/>
              </a:rPr>
              <a:t>As we transition into 6G networks, standard static frequency allocation is no longer sustainable. </a:t>
            </a:r>
            <a:endParaRPr lang="en-US" sz="2000" dirty="0">
              <a:latin typeface="Inter"/>
              <a:ea typeface="Inter"/>
              <a:cs typeface="Inter"/>
              <a:sym typeface="Inter"/>
            </a:endParaRPr>
          </a:p>
          <a:p>
            <a:pPr marL="285750" marR="0" lvl="0" indent="-285750" rtl="0">
              <a:lnSpc>
                <a:spcPct val="160000"/>
              </a:lnSpc>
              <a:spcBef>
                <a:spcPts val="0"/>
              </a:spcBef>
              <a:spcAft>
                <a:spcPts val="0"/>
              </a:spcAft>
              <a:buFont typeface="Arial" panose="020B0604020202020204" pitchFamily="34" charset="0"/>
              <a:buChar char="•"/>
            </a:pPr>
            <a:r>
              <a:rPr lang="en-US" sz="2000" b="0" i="0" u="none" strike="noStrike" cap="none" dirty="0">
                <a:latin typeface="Inter"/>
                <a:ea typeface="Inter"/>
                <a:cs typeface="Inter"/>
                <a:sym typeface="Inter"/>
              </a:rPr>
              <a:t>The demand for bandwidth vastly outweighs the available spectrum allocations. </a:t>
            </a:r>
            <a:endParaRPr lang="en-US" sz="2000" dirty="0">
              <a:latin typeface="Inter"/>
              <a:ea typeface="Inter"/>
              <a:cs typeface="Inter"/>
              <a:sym typeface="Inter"/>
            </a:endParaRPr>
          </a:p>
          <a:p>
            <a:pPr marL="285750" marR="0" lvl="0" indent="-285750" rtl="0">
              <a:lnSpc>
                <a:spcPct val="160000"/>
              </a:lnSpc>
              <a:spcBef>
                <a:spcPts val="0"/>
              </a:spcBef>
              <a:spcAft>
                <a:spcPts val="0"/>
              </a:spcAft>
              <a:buFont typeface="Arial" panose="020B0604020202020204" pitchFamily="34" charset="0"/>
              <a:buChar char="•"/>
            </a:pPr>
            <a:r>
              <a:rPr lang="en-US" sz="2000" i="0" u="none" strike="noStrike" cap="none" dirty="0">
                <a:latin typeface="Inter"/>
                <a:ea typeface="Inter"/>
                <a:cs typeface="Inter"/>
                <a:sym typeface="Inter"/>
              </a:rPr>
              <a:t>Dynamic, opportunistic access via CR is mandatory, requiring near-instantaneous and flawless detection of "empty" spectrum slots in increasingly noisy environments.</a:t>
            </a:r>
            <a:endParaRPr sz="2000" dirty="0"/>
          </a:p>
        </p:txBody>
      </p:sp>
      <p:sp>
        <p:nvSpPr>
          <p:cNvPr id="117" name="Google Shape;117;p16"/>
          <p:cNvSpPr txBox="1"/>
          <p:nvPr/>
        </p:nvSpPr>
        <p:spPr>
          <a:xfrm>
            <a:off x="571500" y="571500"/>
            <a:ext cx="7726194"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dirty="0">
                <a:solidFill>
                  <a:schemeClr val="tx2"/>
                </a:solidFill>
                <a:latin typeface="+mj-lt"/>
                <a:ea typeface="Poppins SemiBold"/>
                <a:cs typeface="Poppins SemiBold"/>
                <a:sym typeface="Poppins SemiBold"/>
              </a:rPr>
              <a:t>The Urgency of the RF Scarcity Problem</a:t>
            </a:r>
            <a:endParaRPr sz="3200" b="1" dirty="0">
              <a:solidFill>
                <a:schemeClr val="tx2"/>
              </a:solidFill>
              <a:latin typeface="+mj-lt"/>
            </a:endParaRPr>
          </a:p>
        </p:txBody>
      </p:sp>
      <p:sp>
        <p:nvSpPr>
          <p:cNvPr id="2" name="Slide Number Placeholder 1">
            <a:extLst>
              <a:ext uri="{FF2B5EF4-FFF2-40B4-BE49-F238E27FC236}">
                <a16:creationId xmlns:a16="http://schemas.microsoft.com/office/drawing/2014/main" id="{2A3DE7C5-80FC-5587-847B-BA6C4204673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b="1" smtClean="0"/>
              <a:t>4</a:t>
            </a:fld>
            <a:endParaRPr lang="en-US" b="1" dirty="0"/>
          </a:p>
        </p:txBody>
      </p:sp>
      <p:pic>
        <p:nvPicPr>
          <p:cNvPr id="3" name="Picture 2">
            <a:extLst>
              <a:ext uri="{FF2B5EF4-FFF2-40B4-BE49-F238E27FC236}">
                <a16:creationId xmlns:a16="http://schemas.microsoft.com/office/drawing/2014/main" id="{B424D379-D5F7-9C60-FFA2-0458F654DD98}"/>
              </a:ext>
            </a:extLst>
          </p:cNvPr>
          <p:cNvPicPr>
            <a:picLocks noChangeAspect="1"/>
          </p:cNvPicPr>
          <p:nvPr/>
        </p:nvPicPr>
        <p:blipFill>
          <a:blip r:embed="rId3"/>
          <a:stretch>
            <a:fillRect/>
          </a:stretch>
        </p:blipFill>
        <p:spPr>
          <a:xfrm>
            <a:off x="76204" y="5868185"/>
            <a:ext cx="903221" cy="903221"/>
          </a:xfrm>
          <a:prstGeom prst="rect">
            <a:avLst/>
          </a:prstGeom>
        </p:spPr>
      </p:pic>
      <p:sp>
        <p:nvSpPr>
          <p:cNvPr id="4" name="Date Placeholder 3">
            <a:extLst>
              <a:ext uri="{FF2B5EF4-FFF2-40B4-BE49-F238E27FC236}">
                <a16:creationId xmlns:a16="http://schemas.microsoft.com/office/drawing/2014/main" id="{863AB838-D6EE-62AF-3C4C-ECEABF8333B8}"/>
              </a:ext>
            </a:extLst>
          </p:cNvPr>
          <p:cNvSpPr>
            <a:spLocks noGrp="1"/>
          </p:cNvSpPr>
          <p:nvPr>
            <p:ph type="dt" sz="half" idx="10"/>
          </p:nvPr>
        </p:nvSpPr>
        <p:spPr>
          <a:xfrm>
            <a:off x="9202812" y="6356349"/>
            <a:ext cx="2743200" cy="365125"/>
          </a:xfrm>
        </p:spPr>
        <p:txBody>
          <a:bodyPr/>
          <a:lstStyle/>
          <a:p>
            <a:fld id="{B3D82C84-410B-412A-8C33-26131660583D}" type="datetime9">
              <a:rPr lang="en-US" b="1" smtClean="0">
                <a:solidFill>
                  <a:srgbClr val="7030A0"/>
                </a:solidFill>
              </a:rPr>
              <a:t>5/16/2026 10:59:48 PM</a:t>
            </a:fld>
            <a:endParaRPr lang="en-CA" b="1" dirty="0">
              <a:solidFill>
                <a:srgbClr val="7030A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3" name="Google Shape;123;p17" descr="image.png"/>
          <p:cNvPicPr preferRelativeResize="0"/>
          <p:nvPr/>
        </p:nvPicPr>
        <p:blipFill rotWithShape="1">
          <a:blip r:embed="rId3">
            <a:alphaModFix/>
            <a:lum bright="70000" contrast="-70000"/>
          </a:blip>
          <a:srcRect/>
          <a:stretch/>
        </p:blipFill>
        <p:spPr>
          <a:xfrm>
            <a:off x="654627" y="1708728"/>
            <a:ext cx="3429000" cy="4105275"/>
          </a:xfrm>
          <a:prstGeom prst="rect">
            <a:avLst/>
          </a:prstGeom>
          <a:solidFill>
            <a:schemeClr val="bg1"/>
          </a:solidFill>
          <a:ln>
            <a:noFill/>
          </a:ln>
        </p:spPr>
      </p:pic>
      <p:pic>
        <p:nvPicPr>
          <p:cNvPr id="124" name="Google Shape;124;p17" descr="image.png"/>
          <p:cNvPicPr preferRelativeResize="0"/>
          <p:nvPr/>
        </p:nvPicPr>
        <p:blipFill rotWithShape="1">
          <a:blip r:embed="rId4">
            <a:alphaModFix/>
            <a:lum bright="70000" contrast="-70000"/>
          </a:blip>
          <a:srcRect/>
          <a:stretch/>
        </p:blipFill>
        <p:spPr>
          <a:xfrm>
            <a:off x="4464627" y="1708728"/>
            <a:ext cx="3429000" cy="4105275"/>
          </a:xfrm>
          <a:prstGeom prst="rect">
            <a:avLst/>
          </a:prstGeom>
          <a:noFill/>
          <a:ln>
            <a:noFill/>
          </a:ln>
        </p:spPr>
      </p:pic>
      <p:pic>
        <p:nvPicPr>
          <p:cNvPr id="125" name="Google Shape;125;p17" descr="image.png"/>
          <p:cNvPicPr preferRelativeResize="0"/>
          <p:nvPr/>
        </p:nvPicPr>
        <p:blipFill rotWithShape="1">
          <a:blip r:embed="rId4">
            <a:alphaModFix/>
            <a:lum bright="70000" contrast="-70000"/>
          </a:blip>
          <a:srcRect/>
          <a:stretch/>
        </p:blipFill>
        <p:spPr>
          <a:xfrm>
            <a:off x="8274627" y="1708728"/>
            <a:ext cx="3429000" cy="4105275"/>
          </a:xfrm>
          <a:prstGeom prst="rect">
            <a:avLst/>
          </a:prstGeom>
          <a:noFill/>
          <a:ln>
            <a:noFill/>
          </a:ln>
        </p:spPr>
      </p:pic>
      <p:pic>
        <p:nvPicPr>
          <p:cNvPr id="126" name="Google Shape;126;p17" descr="image.png"/>
          <p:cNvPicPr preferRelativeResize="0"/>
          <p:nvPr/>
        </p:nvPicPr>
        <p:blipFill rotWithShape="1">
          <a:blip r:embed="rId5">
            <a:alphaModFix/>
          </a:blip>
          <a:srcRect/>
          <a:stretch/>
        </p:blipFill>
        <p:spPr>
          <a:xfrm>
            <a:off x="1988127" y="2127828"/>
            <a:ext cx="762000" cy="762000"/>
          </a:xfrm>
          <a:prstGeom prst="rect">
            <a:avLst/>
          </a:prstGeom>
          <a:noFill/>
          <a:ln>
            <a:noFill/>
          </a:ln>
        </p:spPr>
      </p:pic>
      <p:sp>
        <p:nvSpPr>
          <p:cNvPr id="127" name="Google Shape;127;p17"/>
          <p:cNvSpPr txBox="1"/>
          <p:nvPr/>
        </p:nvSpPr>
        <p:spPr>
          <a:xfrm>
            <a:off x="948949" y="3127953"/>
            <a:ext cx="2840355"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chemeClr val="accent1">
                    <a:lumMod val="75000"/>
                  </a:schemeClr>
                </a:solidFill>
                <a:latin typeface="Poppins SemiBold"/>
                <a:ea typeface="Poppins SemiBold"/>
                <a:cs typeface="Poppins SemiBold"/>
                <a:sym typeface="Poppins SemiBold"/>
              </a:rPr>
              <a:t>Unified Formulation</a:t>
            </a:r>
            <a:endParaRPr b="1" dirty="0">
              <a:solidFill>
                <a:schemeClr val="accent1">
                  <a:lumMod val="75000"/>
                </a:schemeClr>
              </a:solidFill>
            </a:endParaRPr>
          </a:p>
        </p:txBody>
      </p:sp>
      <p:sp>
        <p:nvSpPr>
          <p:cNvPr id="128" name="Google Shape;128;p17"/>
          <p:cNvSpPr txBox="1"/>
          <p:nvPr/>
        </p:nvSpPr>
        <p:spPr>
          <a:xfrm>
            <a:off x="797800" y="3670878"/>
            <a:ext cx="3155314" cy="157581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00" b="0" i="0" u="none" strike="noStrike" cap="none" dirty="0">
                <a:latin typeface="Inter"/>
                <a:ea typeface="Inter"/>
                <a:cs typeface="Inter"/>
                <a:sym typeface="Inter"/>
              </a:rPr>
              <a:t>Reformulate multiple diverse RF datasets into a standardized binary spectrum sensing task for direct comparability.</a:t>
            </a:r>
            <a:endParaRPr sz="1600" dirty="0"/>
          </a:p>
        </p:txBody>
      </p:sp>
      <p:pic>
        <p:nvPicPr>
          <p:cNvPr id="129" name="Google Shape;129;p17" descr="image.png"/>
          <p:cNvPicPr preferRelativeResize="0"/>
          <p:nvPr/>
        </p:nvPicPr>
        <p:blipFill rotWithShape="1">
          <a:blip r:embed="rId6">
            <a:alphaModFix/>
          </a:blip>
          <a:srcRect/>
          <a:stretch/>
        </p:blipFill>
        <p:spPr>
          <a:xfrm>
            <a:off x="5798127" y="2127828"/>
            <a:ext cx="762000" cy="762000"/>
          </a:xfrm>
          <a:prstGeom prst="rect">
            <a:avLst/>
          </a:prstGeom>
          <a:noFill/>
          <a:ln>
            <a:noFill/>
          </a:ln>
        </p:spPr>
      </p:pic>
      <p:sp>
        <p:nvSpPr>
          <p:cNvPr id="130" name="Google Shape;130;p17"/>
          <p:cNvSpPr txBox="1"/>
          <p:nvPr/>
        </p:nvSpPr>
        <p:spPr>
          <a:xfrm>
            <a:off x="4793953" y="3147148"/>
            <a:ext cx="2770346"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chemeClr val="accent1">
                    <a:lumMod val="75000"/>
                  </a:schemeClr>
                </a:solidFill>
                <a:latin typeface="Poppins SemiBold"/>
                <a:ea typeface="Poppins SemiBold"/>
                <a:cs typeface="Poppins SemiBold"/>
                <a:sym typeface="Poppins SemiBold"/>
              </a:rPr>
              <a:t>Cross-Dataset Eval</a:t>
            </a:r>
            <a:endParaRPr b="1" dirty="0">
              <a:solidFill>
                <a:schemeClr val="accent1">
                  <a:lumMod val="75000"/>
                </a:schemeClr>
              </a:solidFill>
            </a:endParaRPr>
          </a:p>
        </p:txBody>
      </p:sp>
      <p:sp>
        <p:nvSpPr>
          <p:cNvPr id="131" name="Google Shape;131;p17"/>
          <p:cNvSpPr txBox="1"/>
          <p:nvPr/>
        </p:nvSpPr>
        <p:spPr>
          <a:xfrm>
            <a:off x="4755139" y="3690293"/>
            <a:ext cx="2939673" cy="157581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00" b="0" i="0" u="none" strike="noStrike" cap="none" dirty="0">
                <a:latin typeface="Inter"/>
                <a:ea typeface="Inter"/>
                <a:cs typeface="Inter"/>
                <a:sym typeface="Inter"/>
              </a:rPr>
              <a:t>Test structural generalization by evaluating models across four distinct, heterogeneous datasets simultaneously.</a:t>
            </a:r>
            <a:endParaRPr sz="1600" dirty="0"/>
          </a:p>
        </p:txBody>
      </p:sp>
      <p:pic>
        <p:nvPicPr>
          <p:cNvPr id="132" name="Google Shape;132;p17" descr="image.png"/>
          <p:cNvPicPr preferRelativeResize="0"/>
          <p:nvPr/>
        </p:nvPicPr>
        <p:blipFill rotWithShape="1">
          <a:blip r:embed="rId7">
            <a:alphaModFix/>
          </a:blip>
          <a:srcRect/>
          <a:stretch/>
        </p:blipFill>
        <p:spPr>
          <a:xfrm>
            <a:off x="9608127" y="2127828"/>
            <a:ext cx="762000" cy="762000"/>
          </a:xfrm>
          <a:prstGeom prst="rect">
            <a:avLst/>
          </a:prstGeom>
          <a:noFill/>
          <a:ln>
            <a:noFill/>
          </a:ln>
        </p:spPr>
      </p:pic>
      <p:sp>
        <p:nvSpPr>
          <p:cNvPr id="133" name="Google Shape;133;p17"/>
          <p:cNvSpPr txBox="1"/>
          <p:nvPr/>
        </p:nvSpPr>
        <p:spPr>
          <a:xfrm>
            <a:off x="8946139" y="3115034"/>
            <a:ext cx="2245975" cy="64633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chemeClr val="accent1">
                    <a:lumMod val="75000"/>
                  </a:schemeClr>
                </a:solidFill>
                <a:latin typeface="Poppins SemiBold"/>
                <a:ea typeface="Poppins SemiBold"/>
                <a:cs typeface="Poppins SemiBold"/>
                <a:sym typeface="Poppins SemiBold"/>
              </a:rPr>
              <a:t>Architecture Compare</a:t>
            </a:r>
            <a:endParaRPr b="1" dirty="0">
              <a:solidFill>
                <a:schemeClr val="accent1">
                  <a:lumMod val="75000"/>
                </a:schemeClr>
              </a:solidFill>
            </a:endParaRPr>
          </a:p>
        </p:txBody>
      </p:sp>
      <p:sp>
        <p:nvSpPr>
          <p:cNvPr id="134" name="Google Shape;134;p17"/>
          <p:cNvSpPr txBox="1"/>
          <p:nvPr/>
        </p:nvSpPr>
        <p:spPr>
          <a:xfrm>
            <a:off x="8389160" y="3886102"/>
            <a:ext cx="3161205" cy="157581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00" b="0" i="0" u="none" strike="noStrike" cap="none" dirty="0">
                <a:latin typeface="Inter"/>
                <a:ea typeface="Inter"/>
                <a:cs typeface="Inter"/>
                <a:sym typeface="Inter"/>
              </a:rPr>
              <a:t>Evaluate the strengths of four distinct DL architectures (CNN, LSTM, GRU, PETCGDNN) against traditional limits.</a:t>
            </a:r>
            <a:endParaRPr sz="1600" dirty="0"/>
          </a:p>
        </p:txBody>
      </p:sp>
      <p:pic>
        <p:nvPicPr>
          <p:cNvPr id="135" name="Google Shape;135;p17" descr="image.png"/>
          <p:cNvPicPr preferRelativeResize="0"/>
          <p:nvPr/>
        </p:nvPicPr>
        <p:blipFill rotWithShape="1">
          <a:blip r:embed="rId8">
            <a:alphaModFix/>
            <a:duotone>
              <a:prstClr val="black"/>
              <a:schemeClr val="accent2">
                <a:tint val="45000"/>
                <a:satMod val="400000"/>
              </a:schemeClr>
            </a:duotone>
          </a:blip>
          <a:srcRect/>
          <a:stretch/>
        </p:blipFill>
        <p:spPr>
          <a:xfrm>
            <a:off x="2216727" y="2337378"/>
            <a:ext cx="304800" cy="342900"/>
          </a:xfrm>
          <a:prstGeom prst="rect">
            <a:avLst/>
          </a:prstGeom>
          <a:noFill/>
          <a:ln>
            <a:noFill/>
          </a:ln>
        </p:spPr>
      </p:pic>
      <p:pic>
        <p:nvPicPr>
          <p:cNvPr id="136" name="Google Shape;136;p17" descr="image.png"/>
          <p:cNvPicPr preferRelativeResize="0"/>
          <p:nvPr/>
        </p:nvPicPr>
        <p:blipFill rotWithShape="1">
          <a:blip r:embed="rId9">
            <a:alphaModFix/>
            <a:duotone>
              <a:prstClr val="black"/>
              <a:schemeClr val="accent6">
                <a:tint val="45000"/>
                <a:satMod val="400000"/>
              </a:schemeClr>
            </a:duotone>
          </a:blip>
          <a:srcRect/>
          <a:stretch/>
        </p:blipFill>
        <p:spPr>
          <a:xfrm>
            <a:off x="6007677" y="2337378"/>
            <a:ext cx="342900" cy="342900"/>
          </a:xfrm>
          <a:prstGeom prst="rect">
            <a:avLst/>
          </a:prstGeom>
          <a:noFill/>
          <a:ln>
            <a:noFill/>
          </a:ln>
        </p:spPr>
      </p:pic>
      <p:pic>
        <p:nvPicPr>
          <p:cNvPr id="137" name="Google Shape;137;p17" descr="image.png"/>
          <p:cNvPicPr preferRelativeResize="0"/>
          <p:nvPr/>
        </p:nvPicPr>
        <p:blipFill rotWithShape="1">
          <a:blip r:embed="rId10">
            <a:alphaModFix/>
            <a:duotone>
              <a:prstClr val="black"/>
              <a:schemeClr val="accent5">
                <a:tint val="45000"/>
                <a:satMod val="400000"/>
              </a:schemeClr>
            </a:duotone>
          </a:blip>
          <a:srcRect/>
          <a:stretch/>
        </p:blipFill>
        <p:spPr>
          <a:xfrm>
            <a:off x="9793864" y="2337378"/>
            <a:ext cx="390525" cy="342900"/>
          </a:xfrm>
          <a:prstGeom prst="rect">
            <a:avLst/>
          </a:prstGeom>
          <a:noFill/>
          <a:ln>
            <a:noFill/>
          </a:ln>
        </p:spPr>
      </p:pic>
      <p:sp>
        <p:nvSpPr>
          <p:cNvPr id="138" name="Google Shape;138;p17"/>
          <p:cNvSpPr txBox="1"/>
          <p:nvPr/>
        </p:nvSpPr>
        <p:spPr>
          <a:xfrm>
            <a:off x="571500" y="571500"/>
            <a:ext cx="4418789"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dirty="0">
                <a:solidFill>
                  <a:schemeClr val="tx2"/>
                </a:solidFill>
                <a:latin typeface="+mj-lt"/>
                <a:ea typeface="Poppins SemiBold"/>
                <a:cs typeface="Poppins SemiBold"/>
                <a:sym typeface="Poppins SemiBold"/>
              </a:rPr>
              <a:t>Core Study Objectives</a:t>
            </a:r>
            <a:endParaRPr sz="3200" b="1" dirty="0">
              <a:solidFill>
                <a:schemeClr val="tx2"/>
              </a:solidFill>
              <a:latin typeface="+mj-lt"/>
            </a:endParaRPr>
          </a:p>
        </p:txBody>
      </p:sp>
      <p:sp>
        <p:nvSpPr>
          <p:cNvPr id="2" name="Slide Number Placeholder 1">
            <a:extLst>
              <a:ext uri="{FF2B5EF4-FFF2-40B4-BE49-F238E27FC236}">
                <a16:creationId xmlns:a16="http://schemas.microsoft.com/office/drawing/2014/main" id="{F04E9006-2432-056E-9F1E-24E9D896F58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b="1" smtClean="0"/>
              <a:t>5</a:t>
            </a:fld>
            <a:endParaRPr lang="en-US" b="1" dirty="0"/>
          </a:p>
        </p:txBody>
      </p:sp>
      <p:pic>
        <p:nvPicPr>
          <p:cNvPr id="3" name="Picture 2">
            <a:extLst>
              <a:ext uri="{FF2B5EF4-FFF2-40B4-BE49-F238E27FC236}">
                <a16:creationId xmlns:a16="http://schemas.microsoft.com/office/drawing/2014/main" id="{51984172-7DAC-F1B9-9AE2-DA69B5B17DF3}"/>
              </a:ext>
            </a:extLst>
          </p:cNvPr>
          <p:cNvPicPr>
            <a:picLocks noChangeAspect="1"/>
          </p:cNvPicPr>
          <p:nvPr/>
        </p:nvPicPr>
        <p:blipFill>
          <a:blip r:embed="rId11"/>
          <a:stretch>
            <a:fillRect/>
          </a:stretch>
        </p:blipFill>
        <p:spPr>
          <a:xfrm>
            <a:off x="76204" y="5868185"/>
            <a:ext cx="903221" cy="903221"/>
          </a:xfrm>
          <a:prstGeom prst="rect">
            <a:avLst/>
          </a:prstGeom>
        </p:spPr>
      </p:pic>
      <p:sp>
        <p:nvSpPr>
          <p:cNvPr id="4" name="Date Placeholder 3">
            <a:extLst>
              <a:ext uri="{FF2B5EF4-FFF2-40B4-BE49-F238E27FC236}">
                <a16:creationId xmlns:a16="http://schemas.microsoft.com/office/drawing/2014/main" id="{04A955FD-6238-6F34-4641-E82C5E30D5FA}"/>
              </a:ext>
            </a:extLst>
          </p:cNvPr>
          <p:cNvSpPr>
            <a:spLocks noGrp="1"/>
          </p:cNvSpPr>
          <p:nvPr>
            <p:ph type="dt" sz="half" idx="10"/>
          </p:nvPr>
        </p:nvSpPr>
        <p:spPr>
          <a:xfrm>
            <a:off x="9301002" y="6356350"/>
            <a:ext cx="2743200" cy="365125"/>
          </a:xfrm>
        </p:spPr>
        <p:txBody>
          <a:bodyPr/>
          <a:lstStyle/>
          <a:p>
            <a:fld id="{9AFA613C-1256-4CD2-92F9-0DD5F805F934}" type="datetime9">
              <a:rPr lang="en-US" b="1" smtClean="0">
                <a:solidFill>
                  <a:srgbClr val="7030A0"/>
                </a:solidFill>
              </a:rPr>
              <a:t>5/16/2026 10:59:48 PM</a:t>
            </a:fld>
            <a:endParaRPr lang="en-CA" b="1" dirty="0">
              <a:solidFill>
                <a:srgbClr val="7030A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4" name="Google Shape;144;p18"/>
          <p:cNvSpPr/>
          <p:nvPr/>
        </p:nvSpPr>
        <p:spPr>
          <a:xfrm>
            <a:off x="5441373" y="2556868"/>
            <a:ext cx="1143000" cy="38100"/>
          </a:xfrm>
          <a:prstGeom prst="rect">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5" name="Google Shape;145;p18"/>
          <p:cNvSpPr txBox="1"/>
          <p:nvPr/>
        </p:nvSpPr>
        <p:spPr>
          <a:xfrm>
            <a:off x="2285523" y="2749004"/>
            <a:ext cx="7620952" cy="83099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1" i="0" u="none" strike="noStrike" cap="none" dirty="0">
                <a:latin typeface="+mj-lt"/>
                <a:ea typeface="Poppins"/>
                <a:cs typeface="Poppins"/>
                <a:sym typeface="Poppins"/>
              </a:rPr>
              <a:t>2. Novelty &amp; Usefulness</a:t>
            </a:r>
            <a:endParaRPr sz="5400" dirty="0">
              <a:latin typeface="+mj-lt"/>
            </a:endParaRPr>
          </a:p>
        </p:txBody>
      </p:sp>
      <p:sp>
        <p:nvSpPr>
          <p:cNvPr id="146" name="Google Shape;146;p18"/>
          <p:cNvSpPr txBox="1"/>
          <p:nvPr/>
        </p:nvSpPr>
        <p:spPr>
          <a:xfrm>
            <a:off x="2359088" y="3823450"/>
            <a:ext cx="7307569" cy="886397"/>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1" i="0" u="none" strike="noStrike" cap="none" dirty="0">
                <a:solidFill>
                  <a:schemeClr val="accent1"/>
                </a:solidFill>
                <a:latin typeface="Inter"/>
                <a:ea typeface="Inter"/>
                <a:cs typeface="Inter"/>
                <a:sym typeface="Inter"/>
              </a:rPr>
              <a:t>Moving beyond synthetic idealized models to ensure structural generalization in harsh, real-world RF environments.</a:t>
            </a:r>
            <a:endParaRPr b="1" dirty="0">
              <a:solidFill>
                <a:schemeClr val="accent1"/>
              </a:solidFill>
            </a:endParaRPr>
          </a:p>
        </p:txBody>
      </p:sp>
      <p:sp>
        <p:nvSpPr>
          <p:cNvPr id="2" name="Slide Number Placeholder 1">
            <a:extLst>
              <a:ext uri="{FF2B5EF4-FFF2-40B4-BE49-F238E27FC236}">
                <a16:creationId xmlns:a16="http://schemas.microsoft.com/office/drawing/2014/main" id="{56299EA8-2BD5-2987-F7B9-B7579D38348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b="1" smtClean="0"/>
              <a:t>6</a:t>
            </a:fld>
            <a:endParaRPr lang="en-US" b="1" dirty="0"/>
          </a:p>
        </p:txBody>
      </p:sp>
      <p:sp>
        <p:nvSpPr>
          <p:cNvPr id="3" name="Date Placeholder 2">
            <a:extLst>
              <a:ext uri="{FF2B5EF4-FFF2-40B4-BE49-F238E27FC236}">
                <a16:creationId xmlns:a16="http://schemas.microsoft.com/office/drawing/2014/main" id="{974618F7-388A-D011-B8E0-4E99FB76FB31}"/>
              </a:ext>
            </a:extLst>
          </p:cNvPr>
          <p:cNvSpPr>
            <a:spLocks noGrp="1"/>
          </p:cNvSpPr>
          <p:nvPr>
            <p:ph type="dt" sz="half" idx="10"/>
          </p:nvPr>
        </p:nvSpPr>
        <p:spPr>
          <a:xfrm>
            <a:off x="9393056" y="6356350"/>
            <a:ext cx="2743200" cy="365125"/>
          </a:xfrm>
        </p:spPr>
        <p:txBody>
          <a:bodyPr/>
          <a:lstStyle/>
          <a:p>
            <a:fld id="{0464C340-7B0A-4952-8940-2FE9D7D1E1D9}" type="datetime9">
              <a:rPr lang="en-US" b="1" smtClean="0">
                <a:solidFill>
                  <a:srgbClr val="7030A0"/>
                </a:solidFill>
              </a:rPr>
              <a:t>5/16/2026 10:59:48 PM</a:t>
            </a:fld>
            <a:endParaRPr lang="en-CA" b="1" dirty="0">
              <a:solidFill>
                <a:srgbClr val="7030A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152" name="Google Shape;152;p19" descr="image.png"/>
          <p:cNvPicPr preferRelativeResize="0"/>
          <p:nvPr/>
        </p:nvPicPr>
        <p:blipFill rotWithShape="1">
          <a:blip r:embed="rId3">
            <a:alphaModFix/>
            <a:lum bright="70000" contrast="-70000"/>
          </a:blip>
          <a:srcRect/>
          <a:stretch/>
        </p:blipFill>
        <p:spPr>
          <a:xfrm>
            <a:off x="571500" y="1524000"/>
            <a:ext cx="5286375" cy="4344185"/>
          </a:xfrm>
          <a:prstGeom prst="rect">
            <a:avLst/>
          </a:prstGeom>
          <a:noFill/>
          <a:ln>
            <a:noFill/>
          </a:ln>
        </p:spPr>
      </p:pic>
      <p:pic>
        <p:nvPicPr>
          <p:cNvPr id="153" name="Google Shape;153;p19" descr="image.png"/>
          <p:cNvPicPr preferRelativeResize="0"/>
          <p:nvPr/>
        </p:nvPicPr>
        <p:blipFill rotWithShape="1">
          <a:blip r:embed="rId4">
            <a:alphaModFix/>
            <a:lum bright="70000" contrast="-70000"/>
          </a:blip>
          <a:srcRect/>
          <a:stretch/>
        </p:blipFill>
        <p:spPr>
          <a:xfrm>
            <a:off x="6334125" y="1524000"/>
            <a:ext cx="5286375" cy="4227872"/>
          </a:xfrm>
          <a:prstGeom prst="rect">
            <a:avLst/>
          </a:prstGeom>
          <a:noFill/>
          <a:ln>
            <a:noFill/>
          </a:ln>
        </p:spPr>
      </p:pic>
      <p:sp>
        <p:nvSpPr>
          <p:cNvPr id="154" name="Google Shape;154;p19"/>
          <p:cNvSpPr txBox="1"/>
          <p:nvPr/>
        </p:nvSpPr>
        <p:spPr>
          <a:xfrm>
            <a:off x="990600" y="1905000"/>
            <a:ext cx="3299298"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chemeClr val="tx2"/>
                </a:solidFill>
                <a:latin typeface="Poppins SemiBold"/>
                <a:ea typeface="Poppins SemiBold"/>
                <a:cs typeface="Poppins SemiBold"/>
                <a:sym typeface="Poppins SemiBold"/>
              </a:rPr>
              <a:t>The Generalization Gap</a:t>
            </a:r>
            <a:endParaRPr b="1" dirty="0">
              <a:solidFill>
                <a:schemeClr val="tx2"/>
              </a:solidFill>
            </a:endParaRPr>
          </a:p>
        </p:txBody>
      </p:sp>
      <p:sp>
        <p:nvSpPr>
          <p:cNvPr id="155" name="Google Shape;155;p19"/>
          <p:cNvSpPr txBox="1"/>
          <p:nvPr/>
        </p:nvSpPr>
        <p:spPr>
          <a:xfrm>
            <a:off x="990600" y="2360948"/>
            <a:ext cx="4554166" cy="221599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latin typeface="Inter"/>
                <a:ea typeface="Inter"/>
                <a:cs typeface="Inter"/>
                <a:sym typeface="Inter"/>
              </a:rPr>
              <a:t>Many existing DL-based sensing models are structurally heavy and optimized exclusively for a single dataset. This prevents accurate assessment of their cross-dataset generalization and severely limits their feasibility for deployment on resource-constrained edge devices.</a:t>
            </a:r>
            <a:endParaRPr dirty="0"/>
          </a:p>
        </p:txBody>
      </p:sp>
      <p:sp>
        <p:nvSpPr>
          <p:cNvPr id="156" name="Google Shape;156;p19"/>
          <p:cNvSpPr txBox="1"/>
          <p:nvPr/>
        </p:nvSpPr>
        <p:spPr>
          <a:xfrm>
            <a:off x="6753225" y="1905000"/>
            <a:ext cx="3402452"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chemeClr val="tx2"/>
                </a:solidFill>
                <a:latin typeface="Poppins SemiBold"/>
                <a:ea typeface="Poppins SemiBold"/>
                <a:cs typeface="Poppins SemiBold"/>
                <a:sym typeface="Poppins SemiBold"/>
              </a:rPr>
              <a:t>The Trivial Learning Trap</a:t>
            </a:r>
            <a:endParaRPr b="1" dirty="0">
              <a:solidFill>
                <a:schemeClr val="tx2"/>
              </a:solidFill>
            </a:endParaRPr>
          </a:p>
        </p:txBody>
      </p:sp>
      <p:sp>
        <p:nvSpPr>
          <p:cNvPr id="157" name="Google Shape;157;p19"/>
          <p:cNvSpPr txBox="1"/>
          <p:nvPr/>
        </p:nvSpPr>
        <p:spPr>
          <a:xfrm>
            <a:off x="6753225" y="2406889"/>
            <a:ext cx="4657320" cy="221599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latin typeface="Inter"/>
                <a:ea typeface="Inter"/>
                <a:cs typeface="Inter"/>
                <a:sym typeface="Inter"/>
              </a:rPr>
              <a:t>Conventional evaluations often represent "idle" channels using pure Additive White Gaussian Noise (AWGN). Models exploit this by learning simple signal-energy cues rather than recognizing complex RF modulation signatures, masking true performance drops.</a:t>
            </a:r>
            <a:endParaRPr dirty="0"/>
          </a:p>
        </p:txBody>
      </p:sp>
      <p:sp>
        <p:nvSpPr>
          <p:cNvPr id="158" name="Google Shape;158;p19"/>
          <p:cNvSpPr txBox="1"/>
          <p:nvPr/>
        </p:nvSpPr>
        <p:spPr>
          <a:xfrm>
            <a:off x="571500" y="571500"/>
            <a:ext cx="618172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chemeClr val="tx2"/>
                </a:solidFill>
                <a:latin typeface="+mj-lt"/>
                <a:ea typeface="Poppins SemiBold"/>
                <a:cs typeface="Poppins SemiBold"/>
                <a:sym typeface="Poppins SemiBold"/>
              </a:rPr>
              <a:t>Addressing Existing Limitations</a:t>
            </a:r>
            <a:endParaRPr sz="3600" b="1" dirty="0">
              <a:solidFill>
                <a:schemeClr val="tx2"/>
              </a:solidFill>
              <a:latin typeface="+mj-lt"/>
            </a:endParaRPr>
          </a:p>
        </p:txBody>
      </p:sp>
      <p:sp>
        <p:nvSpPr>
          <p:cNvPr id="2" name="Slide Number Placeholder 1">
            <a:extLst>
              <a:ext uri="{FF2B5EF4-FFF2-40B4-BE49-F238E27FC236}">
                <a16:creationId xmlns:a16="http://schemas.microsoft.com/office/drawing/2014/main" id="{A17408E8-FCB7-AE6F-6246-A9894980919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b="1" smtClean="0"/>
              <a:t>7</a:t>
            </a:fld>
            <a:endParaRPr lang="en-US" b="1" dirty="0"/>
          </a:p>
        </p:txBody>
      </p:sp>
      <p:pic>
        <p:nvPicPr>
          <p:cNvPr id="3" name="Picture 2">
            <a:extLst>
              <a:ext uri="{FF2B5EF4-FFF2-40B4-BE49-F238E27FC236}">
                <a16:creationId xmlns:a16="http://schemas.microsoft.com/office/drawing/2014/main" id="{79455AAD-7865-3967-823D-0A518BF0E7CB}"/>
              </a:ext>
            </a:extLst>
          </p:cNvPr>
          <p:cNvPicPr>
            <a:picLocks noChangeAspect="1"/>
          </p:cNvPicPr>
          <p:nvPr/>
        </p:nvPicPr>
        <p:blipFill>
          <a:blip r:embed="rId5"/>
          <a:stretch>
            <a:fillRect/>
          </a:stretch>
        </p:blipFill>
        <p:spPr>
          <a:xfrm>
            <a:off x="76204" y="5868185"/>
            <a:ext cx="903221" cy="903221"/>
          </a:xfrm>
          <a:prstGeom prst="rect">
            <a:avLst/>
          </a:prstGeom>
        </p:spPr>
      </p:pic>
      <p:sp>
        <p:nvSpPr>
          <p:cNvPr id="4" name="Date Placeholder 3">
            <a:extLst>
              <a:ext uri="{FF2B5EF4-FFF2-40B4-BE49-F238E27FC236}">
                <a16:creationId xmlns:a16="http://schemas.microsoft.com/office/drawing/2014/main" id="{0C61ABD4-BA90-6993-0DB5-667CA0463829}"/>
              </a:ext>
            </a:extLst>
          </p:cNvPr>
          <p:cNvSpPr>
            <a:spLocks noGrp="1"/>
          </p:cNvSpPr>
          <p:nvPr>
            <p:ph type="dt" sz="half" idx="10"/>
          </p:nvPr>
        </p:nvSpPr>
        <p:spPr>
          <a:xfrm>
            <a:off x="9245771" y="6336714"/>
            <a:ext cx="2743200" cy="365125"/>
          </a:xfrm>
        </p:spPr>
        <p:txBody>
          <a:bodyPr/>
          <a:lstStyle/>
          <a:p>
            <a:fld id="{733B997E-87BA-410B-B992-AB9FDCBA1C3E}" type="datetime9">
              <a:rPr lang="en-US" b="1" smtClean="0">
                <a:solidFill>
                  <a:srgbClr val="7030A0"/>
                </a:solidFill>
              </a:rPr>
              <a:t>5/16/2026 10:59:48 PM</a:t>
            </a:fld>
            <a:endParaRPr lang="en-CA" b="1" dirty="0">
              <a:solidFill>
                <a:srgbClr val="7030A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20"/>
          <p:cNvSpPr txBox="1"/>
          <p:nvPr/>
        </p:nvSpPr>
        <p:spPr>
          <a:xfrm>
            <a:off x="703939" y="634032"/>
            <a:ext cx="5200800" cy="553998"/>
          </a:xfrm>
          <a:prstGeom prst="rect">
            <a:avLst/>
          </a:prstGeom>
          <a:noFill/>
          <a:ln>
            <a:noFill/>
          </a:ln>
        </p:spPr>
        <p:txBody>
          <a:bodyPr spcFirstLastPara="1" wrap="square" lIns="0" tIns="0" rIns="0" bIns="0" anchor="t" anchorCtr="0">
            <a:spAutoFit/>
          </a:bodyPr>
          <a:lstStyle/>
          <a:p>
            <a:r>
              <a:rPr lang="en-US" sz="3600" b="1" dirty="0">
                <a:solidFill>
                  <a:schemeClr val="accent1">
                    <a:lumMod val="75000"/>
                  </a:schemeClr>
                </a:solidFill>
                <a:uFill>
                  <a:solidFill>
                    <a:schemeClr val="accent5">
                      <a:lumMod val="75000"/>
                    </a:schemeClr>
                  </a:solidFill>
                </a:uFill>
                <a:latin typeface="+mj-lt"/>
                <a:ea typeface="Microsoft GothicNeo" panose="020B0500000101010101" pitchFamily="34" charset="-127"/>
                <a:cs typeface="Poppins" panose="00000500000000000000" pitchFamily="2" charset="0"/>
                <a:sym typeface="Poppins SemiBold"/>
              </a:rPr>
              <a:t>The Complex RF Baseline</a:t>
            </a:r>
            <a:endParaRPr sz="3600" b="1" dirty="0">
              <a:solidFill>
                <a:schemeClr val="accent1">
                  <a:lumMod val="75000"/>
                </a:schemeClr>
              </a:solidFill>
              <a:uFill>
                <a:solidFill>
                  <a:schemeClr val="accent5">
                    <a:lumMod val="75000"/>
                  </a:schemeClr>
                </a:solidFill>
              </a:uFill>
              <a:latin typeface="+mj-lt"/>
              <a:ea typeface="Microsoft GothicNeo" panose="020B0500000101010101" pitchFamily="34" charset="-127"/>
              <a:cs typeface="Poppins" panose="00000500000000000000" pitchFamily="2" charset="0"/>
            </a:endParaRPr>
          </a:p>
        </p:txBody>
      </p:sp>
      <p:sp>
        <p:nvSpPr>
          <p:cNvPr id="166" name="Google Shape;166;p20"/>
          <p:cNvSpPr txBox="1"/>
          <p:nvPr/>
        </p:nvSpPr>
        <p:spPr>
          <a:xfrm>
            <a:off x="979425" y="1396780"/>
            <a:ext cx="8627731" cy="886397"/>
          </a:xfrm>
          <a:prstGeom prst="rect">
            <a:avLst/>
          </a:prstGeom>
          <a:noFill/>
          <a:ln>
            <a:noFill/>
          </a:ln>
        </p:spPr>
        <p:txBody>
          <a:bodyPr spcFirstLastPara="1" wrap="square" lIns="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b="0" i="0" u="none" strike="noStrike" cap="none" dirty="0">
                <a:latin typeface="Inter" panose="020B0604020202020204" charset="0"/>
                <a:ea typeface="Inter" panose="020B0604020202020204" charset="0"/>
                <a:cs typeface="Poppins" panose="00000500000000000000" pitchFamily="2" charset="0"/>
                <a:sym typeface="Inter"/>
              </a:rPr>
              <a:t>To guarantee a rigorous stress test, we synthesized a standardized </a:t>
            </a:r>
            <a:r>
              <a:rPr lang="en-US" b="0" i="0" u="none" strike="noStrike" cap="none" dirty="0">
                <a:latin typeface="Inter" panose="020B0604020202020204" charset="0"/>
                <a:ea typeface="Inter" panose="020B0604020202020204" charset="0"/>
                <a:cs typeface="Poppins" panose="00000500000000000000" pitchFamily="2" charset="0"/>
                <a:sym typeface="Inter SemiBold"/>
              </a:rPr>
              <a:t>Complex RF Background Simulator</a:t>
            </a:r>
            <a:r>
              <a:rPr lang="en-US" b="0" i="0" u="none" strike="noStrike" cap="none" dirty="0">
                <a:latin typeface="Inter" panose="020B0604020202020204" charset="0"/>
                <a:ea typeface="Inter" panose="020B0604020202020204" charset="0"/>
                <a:cs typeface="Poppins" panose="00000500000000000000" pitchFamily="2" charset="0"/>
                <a:sym typeface="Inter"/>
              </a:rPr>
              <a:t>.</a:t>
            </a:r>
            <a:endParaRPr dirty="0">
              <a:latin typeface="Inter" panose="020B0604020202020204" charset="0"/>
              <a:ea typeface="Inter" panose="020B0604020202020204" charset="0"/>
              <a:cs typeface="Poppins" panose="00000500000000000000" pitchFamily="2" charset="0"/>
            </a:endParaRPr>
          </a:p>
        </p:txBody>
      </p:sp>
      <p:sp>
        <p:nvSpPr>
          <p:cNvPr id="167" name="Google Shape;167;p20"/>
          <p:cNvSpPr txBox="1"/>
          <p:nvPr/>
        </p:nvSpPr>
        <p:spPr>
          <a:xfrm>
            <a:off x="980431" y="2311071"/>
            <a:ext cx="8844765" cy="1329595"/>
          </a:xfrm>
          <a:prstGeom prst="rect">
            <a:avLst/>
          </a:prstGeom>
          <a:noFill/>
          <a:ln>
            <a:noFill/>
          </a:ln>
        </p:spPr>
        <p:txBody>
          <a:bodyPr spcFirstLastPara="1" wrap="square" lIns="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b="0" i="0" u="none" strike="noStrike" cap="none" dirty="0">
                <a:latin typeface="Inter" panose="020B0604020202020204" charset="0"/>
                <a:ea typeface="Inter" panose="020B0604020202020204" charset="0"/>
                <a:cs typeface="Poppins" panose="00000500000000000000" pitchFamily="2" charset="0"/>
                <a:sym typeface="Inter"/>
              </a:rPr>
              <a:t>Instead of pure AWGN, the idle class (Signal Absent) is flooded with realistic impairments, forcing the deep learning models to extract robust, discriminative modulation features rather than relying on trivial energy variances.</a:t>
            </a:r>
            <a:endParaRPr dirty="0">
              <a:latin typeface="Inter" panose="020B0604020202020204" charset="0"/>
              <a:ea typeface="Inter" panose="020B0604020202020204" charset="0"/>
              <a:cs typeface="Poppins" panose="00000500000000000000" pitchFamily="2" charset="0"/>
            </a:endParaRPr>
          </a:p>
        </p:txBody>
      </p:sp>
      <p:sp>
        <p:nvSpPr>
          <p:cNvPr id="168" name="Google Shape;168;p20"/>
          <p:cNvSpPr txBox="1"/>
          <p:nvPr/>
        </p:nvSpPr>
        <p:spPr>
          <a:xfrm>
            <a:off x="1755563" y="3820770"/>
            <a:ext cx="2558687"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latin typeface="Inter" panose="020B0604020202020204" charset="0"/>
                <a:ea typeface="Inter" panose="020B0604020202020204" charset="0"/>
                <a:cs typeface="Poppins" panose="00000500000000000000" pitchFamily="2" charset="0"/>
                <a:sym typeface="Inter"/>
              </a:rPr>
              <a:t>Colored Noise filtering</a:t>
            </a:r>
            <a:endParaRPr b="1" dirty="0">
              <a:latin typeface="Inter" panose="020B0604020202020204" charset="0"/>
              <a:ea typeface="Inter" panose="020B0604020202020204" charset="0"/>
              <a:cs typeface="Poppins" panose="00000500000000000000" pitchFamily="2" charset="0"/>
            </a:endParaRPr>
          </a:p>
        </p:txBody>
      </p:sp>
      <p:sp>
        <p:nvSpPr>
          <p:cNvPr id="169" name="Google Shape;169;p20"/>
          <p:cNvSpPr txBox="1"/>
          <p:nvPr/>
        </p:nvSpPr>
        <p:spPr>
          <a:xfrm>
            <a:off x="1755564" y="4354170"/>
            <a:ext cx="3730836"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latin typeface="Inter" panose="020B0604020202020204" charset="0"/>
                <a:ea typeface="Inter" panose="020B0604020202020204" charset="0"/>
                <a:cs typeface="Poppins" panose="00000500000000000000" pitchFamily="2" charset="0"/>
                <a:sym typeface="Inter"/>
              </a:rPr>
              <a:t>Random Narrowband Interference (NBI)</a:t>
            </a:r>
            <a:endParaRPr b="1" dirty="0">
              <a:latin typeface="Inter" panose="020B0604020202020204" charset="0"/>
              <a:ea typeface="Inter" panose="020B0604020202020204" charset="0"/>
              <a:cs typeface="Poppins" panose="00000500000000000000" pitchFamily="2" charset="0"/>
            </a:endParaRPr>
          </a:p>
        </p:txBody>
      </p:sp>
      <p:sp>
        <p:nvSpPr>
          <p:cNvPr id="170" name="Google Shape;170;p20"/>
          <p:cNvSpPr txBox="1"/>
          <p:nvPr/>
        </p:nvSpPr>
        <p:spPr>
          <a:xfrm>
            <a:off x="1755563" y="4887570"/>
            <a:ext cx="3307389"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latin typeface="Inter" panose="020B0604020202020204" charset="0"/>
                <a:ea typeface="Inter" panose="020B0604020202020204" charset="0"/>
                <a:cs typeface="Poppins" panose="00000500000000000000" pitchFamily="2" charset="0"/>
                <a:sym typeface="Inter"/>
              </a:rPr>
              <a:t>High-amplitude Impulsive Spikes</a:t>
            </a:r>
            <a:endParaRPr b="1" dirty="0">
              <a:latin typeface="Inter" panose="020B0604020202020204" charset="0"/>
              <a:ea typeface="Inter" panose="020B0604020202020204" charset="0"/>
              <a:cs typeface="Poppins" panose="00000500000000000000" pitchFamily="2" charset="0"/>
            </a:endParaRPr>
          </a:p>
        </p:txBody>
      </p:sp>
      <p:pic>
        <p:nvPicPr>
          <p:cNvPr id="171" name="Google Shape;171;p20" descr="image.png"/>
          <p:cNvPicPr preferRelativeResize="0"/>
          <p:nvPr/>
        </p:nvPicPr>
        <p:blipFill rotWithShape="1">
          <a:blip r:embed="rId3">
            <a:alphaModFix/>
          </a:blip>
          <a:srcRect/>
          <a:stretch/>
        </p:blipFill>
        <p:spPr>
          <a:xfrm>
            <a:off x="1498082" y="3957977"/>
            <a:ext cx="104775" cy="180975"/>
          </a:xfrm>
          <a:prstGeom prst="rect">
            <a:avLst/>
          </a:prstGeom>
          <a:noFill/>
          <a:ln>
            <a:noFill/>
          </a:ln>
        </p:spPr>
      </p:pic>
      <p:pic>
        <p:nvPicPr>
          <p:cNvPr id="172" name="Google Shape;172;p20" descr="image.png"/>
          <p:cNvPicPr preferRelativeResize="0"/>
          <p:nvPr/>
        </p:nvPicPr>
        <p:blipFill rotWithShape="1">
          <a:blip r:embed="rId3">
            <a:alphaModFix/>
          </a:blip>
          <a:srcRect/>
          <a:stretch/>
        </p:blipFill>
        <p:spPr>
          <a:xfrm>
            <a:off x="1498082" y="4487471"/>
            <a:ext cx="104775" cy="180975"/>
          </a:xfrm>
          <a:prstGeom prst="rect">
            <a:avLst/>
          </a:prstGeom>
          <a:noFill/>
          <a:ln>
            <a:noFill/>
          </a:ln>
        </p:spPr>
      </p:pic>
      <p:pic>
        <p:nvPicPr>
          <p:cNvPr id="173" name="Google Shape;173;p20" descr="image.png"/>
          <p:cNvPicPr preferRelativeResize="0"/>
          <p:nvPr/>
        </p:nvPicPr>
        <p:blipFill rotWithShape="1">
          <a:blip r:embed="rId3">
            <a:alphaModFix/>
          </a:blip>
          <a:srcRect/>
          <a:stretch/>
        </p:blipFill>
        <p:spPr>
          <a:xfrm>
            <a:off x="1498081" y="5013925"/>
            <a:ext cx="104775" cy="180975"/>
          </a:xfrm>
          <a:prstGeom prst="rect">
            <a:avLst/>
          </a:prstGeom>
          <a:noFill/>
          <a:ln>
            <a:noFill/>
          </a:ln>
        </p:spPr>
      </p:pic>
      <p:sp>
        <p:nvSpPr>
          <p:cNvPr id="2" name="Slide Number Placeholder 1">
            <a:extLst>
              <a:ext uri="{FF2B5EF4-FFF2-40B4-BE49-F238E27FC236}">
                <a16:creationId xmlns:a16="http://schemas.microsoft.com/office/drawing/2014/main" id="{5A1B6E11-4C70-5C48-00B6-9744C4AE2B39}"/>
              </a:ext>
            </a:extLst>
          </p:cNvPr>
          <p:cNvSpPr>
            <a:spLocks noGrp="1"/>
          </p:cNvSpPr>
          <p:nvPr>
            <p:ph type="sldNum" sz="quarter" idx="12"/>
          </p:nvPr>
        </p:nvSpPr>
        <p:spPr>
          <a:xfrm>
            <a:off x="9665970" y="6350508"/>
            <a:ext cx="2133600" cy="365125"/>
          </a:xfrm>
        </p:spPr>
        <p:txBody>
          <a:bodyPr/>
          <a:lstStyle/>
          <a:p>
            <a:pPr marL="0" lvl="0" indent="0" algn="r" rtl="0">
              <a:spcBef>
                <a:spcPts val="0"/>
              </a:spcBef>
              <a:spcAft>
                <a:spcPts val="0"/>
              </a:spcAft>
              <a:buNone/>
            </a:pPr>
            <a:fld id="{00000000-1234-1234-1234-123412341234}" type="slidenum">
              <a:rPr lang="en-US" b="1" smtClean="0"/>
              <a:t>8</a:t>
            </a:fld>
            <a:endParaRPr lang="en-US" b="1" dirty="0"/>
          </a:p>
        </p:txBody>
      </p:sp>
      <p:pic>
        <p:nvPicPr>
          <p:cNvPr id="3" name="Picture 2">
            <a:extLst>
              <a:ext uri="{FF2B5EF4-FFF2-40B4-BE49-F238E27FC236}">
                <a16:creationId xmlns:a16="http://schemas.microsoft.com/office/drawing/2014/main" id="{FA5705F8-2920-1C61-E366-7FEF657E5256}"/>
              </a:ext>
            </a:extLst>
          </p:cNvPr>
          <p:cNvPicPr>
            <a:picLocks noChangeAspect="1"/>
          </p:cNvPicPr>
          <p:nvPr/>
        </p:nvPicPr>
        <p:blipFill>
          <a:blip r:embed="rId4"/>
          <a:stretch>
            <a:fillRect/>
          </a:stretch>
        </p:blipFill>
        <p:spPr>
          <a:xfrm>
            <a:off x="76204" y="5868185"/>
            <a:ext cx="903221" cy="903221"/>
          </a:xfrm>
          <a:prstGeom prst="rect">
            <a:avLst/>
          </a:prstGeom>
        </p:spPr>
      </p:pic>
      <p:sp>
        <p:nvSpPr>
          <p:cNvPr id="4" name="Date Placeholder 3">
            <a:extLst>
              <a:ext uri="{FF2B5EF4-FFF2-40B4-BE49-F238E27FC236}">
                <a16:creationId xmlns:a16="http://schemas.microsoft.com/office/drawing/2014/main" id="{294902E8-7805-9301-A893-3933848B0884}"/>
              </a:ext>
            </a:extLst>
          </p:cNvPr>
          <p:cNvSpPr>
            <a:spLocks noGrp="1"/>
          </p:cNvSpPr>
          <p:nvPr>
            <p:ph type="dt" sz="half" idx="10"/>
          </p:nvPr>
        </p:nvSpPr>
        <p:spPr>
          <a:xfrm>
            <a:off x="9552617" y="6319795"/>
            <a:ext cx="2743200" cy="365125"/>
          </a:xfrm>
        </p:spPr>
        <p:txBody>
          <a:bodyPr/>
          <a:lstStyle/>
          <a:p>
            <a:fld id="{25FCC234-DB78-417E-B87C-47BDF394FE78}" type="datetime9">
              <a:rPr lang="en-US" b="1" smtClean="0">
                <a:solidFill>
                  <a:srgbClr val="7030A0"/>
                </a:solidFill>
              </a:rPr>
              <a:t>5/16/2026 10:59:48 PM</a:t>
            </a:fld>
            <a:endParaRPr lang="en-CA" b="1" dirty="0">
              <a:solidFill>
                <a:srgbClr val="7030A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90" name="Google Shape;190;p22"/>
          <p:cNvSpPr txBox="1"/>
          <p:nvPr/>
        </p:nvSpPr>
        <p:spPr>
          <a:xfrm>
            <a:off x="2155507" y="2561183"/>
            <a:ext cx="7880985" cy="83099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1" i="0" u="none" strike="noStrike" cap="none" dirty="0">
                <a:latin typeface="+mj-lt"/>
                <a:ea typeface="Poppins"/>
                <a:cs typeface="Poppins"/>
                <a:sym typeface="Poppins"/>
              </a:rPr>
              <a:t>3. Methodology Pipeline</a:t>
            </a:r>
            <a:endParaRPr sz="5400" dirty="0">
              <a:latin typeface="+mj-lt"/>
            </a:endParaRPr>
          </a:p>
        </p:txBody>
      </p:sp>
      <p:sp>
        <p:nvSpPr>
          <p:cNvPr id="191" name="Google Shape;191;p22"/>
          <p:cNvSpPr txBox="1"/>
          <p:nvPr/>
        </p:nvSpPr>
        <p:spPr>
          <a:xfrm>
            <a:off x="2095364" y="3620034"/>
            <a:ext cx="7880985" cy="886397"/>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400" b="1" i="0" u="none" strike="noStrike" cap="none" dirty="0">
                <a:solidFill>
                  <a:schemeClr val="accent1"/>
                </a:solidFill>
                <a:latin typeface="Inter"/>
                <a:ea typeface="Inter"/>
                <a:cs typeface="Inter"/>
                <a:sym typeface="Inter"/>
              </a:rPr>
              <a:t>A structured, end-to-end framework from dataset formulation to performance evaluation.</a:t>
            </a:r>
            <a:endParaRPr sz="2400" b="1" dirty="0">
              <a:solidFill>
                <a:schemeClr val="accent1"/>
              </a:solidFill>
            </a:endParaRPr>
          </a:p>
        </p:txBody>
      </p:sp>
      <p:sp>
        <p:nvSpPr>
          <p:cNvPr id="2" name="Slide Number Placeholder 1">
            <a:extLst>
              <a:ext uri="{FF2B5EF4-FFF2-40B4-BE49-F238E27FC236}">
                <a16:creationId xmlns:a16="http://schemas.microsoft.com/office/drawing/2014/main" id="{DC54A0EE-95E0-3EA3-9187-7857594B0BA0}"/>
              </a:ext>
            </a:extLst>
          </p:cNvPr>
          <p:cNvSpPr>
            <a:spLocks noGrp="1"/>
          </p:cNvSpPr>
          <p:nvPr>
            <p:ph type="sldNum" sz="quarter" idx="12"/>
          </p:nvPr>
        </p:nvSpPr>
        <p:spPr>
          <a:xfrm>
            <a:off x="11281556" y="6411214"/>
            <a:ext cx="569068" cy="365125"/>
          </a:xfrm>
        </p:spPr>
        <p:txBody>
          <a:bodyPr/>
          <a:lstStyle/>
          <a:p>
            <a:pPr marL="0" lvl="0" indent="0" algn="r" rtl="0">
              <a:spcBef>
                <a:spcPts val="0"/>
              </a:spcBef>
              <a:spcAft>
                <a:spcPts val="0"/>
              </a:spcAft>
              <a:buNone/>
            </a:pPr>
            <a:fld id="{00000000-1234-1234-1234-123412341234}" type="slidenum">
              <a:rPr lang="en-US" b="1" smtClean="0"/>
              <a:t>9</a:t>
            </a:fld>
            <a:endParaRPr lang="en-US" b="1" dirty="0"/>
          </a:p>
        </p:txBody>
      </p:sp>
      <p:pic>
        <p:nvPicPr>
          <p:cNvPr id="3" name="Picture 2">
            <a:extLst>
              <a:ext uri="{FF2B5EF4-FFF2-40B4-BE49-F238E27FC236}">
                <a16:creationId xmlns:a16="http://schemas.microsoft.com/office/drawing/2014/main" id="{CF4D6CE1-46BF-71DB-332B-E5BA208C7856}"/>
              </a:ext>
            </a:extLst>
          </p:cNvPr>
          <p:cNvPicPr>
            <a:picLocks noChangeAspect="1"/>
          </p:cNvPicPr>
          <p:nvPr/>
        </p:nvPicPr>
        <p:blipFill>
          <a:blip r:embed="rId3"/>
          <a:stretch>
            <a:fillRect/>
          </a:stretch>
        </p:blipFill>
        <p:spPr>
          <a:xfrm>
            <a:off x="76204" y="5868185"/>
            <a:ext cx="903221" cy="903221"/>
          </a:xfrm>
          <a:prstGeom prst="rect">
            <a:avLst/>
          </a:prstGeom>
        </p:spPr>
      </p:pic>
      <p:sp>
        <p:nvSpPr>
          <p:cNvPr id="4" name="Google Shape;144;p18">
            <a:extLst>
              <a:ext uri="{FF2B5EF4-FFF2-40B4-BE49-F238E27FC236}">
                <a16:creationId xmlns:a16="http://schemas.microsoft.com/office/drawing/2014/main" id="{F0C3A98F-C015-E6C1-76D9-727D8A0BC33F}"/>
              </a:ext>
            </a:extLst>
          </p:cNvPr>
          <p:cNvSpPr/>
          <p:nvPr/>
        </p:nvSpPr>
        <p:spPr>
          <a:xfrm>
            <a:off x="5524499" y="2399850"/>
            <a:ext cx="1143000" cy="38100"/>
          </a:xfrm>
          <a:prstGeom prst="rect">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Date Placeholder 4">
            <a:extLst>
              <a:ext uri="{FF2B5EF4-FFF2-40B4-BE49-F238E27FC236}">
                <a16:creationId xmlns:a16="http://schemas.microsoft.com/office/drawing/2014/main" id="{F096E23A-44C0-BE88-C1F7-EB603D4B82F3}"/>
              </a:ext>
            </a:extLst>
          </p:cNvPr>
          <p:cNvSpPr>
            <a:spLocks noGrp="1"/>
          </p:cNvSpPr>
          <p:nvPr>
            <p:ph type="dt" sz="half" idx="10"/>
          </p:nvPr>
        </p:nvSpPr>
        <p:spPr>
          <a:xfrm>
            <a:off x="9288729" y="6406281"/>
            <a:ext cx="2743200" cy="365125"/>
          </a:xfrm>
        </p:spPr>
        <p:txBody>
          <a:bodyPr/>
          <a:lstStyle/>
          <a:p>
            <a:fld id="{E23478A0-0E69-410E-9BE6-F15FAD862DBC}" type="datetime9">
              <a:rPr lang="en-US" b="1" smtClean="0">
                <a:solidFill>
                  <a:srgbClr val="7030A0"/>
                </a:solidFill>
              </a:rPr>
              <a:t>5/16/2026 10:59:48 PM</a:t>
            </a:fld>
            <a:endParaRPr lang="en-CA" b="1" dirty="0">
              <a:solidFill>
                <a:srgbClr val="7030A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8" name="Google Shape;198;p23"/>
          <p:cNvSpPr txBox="1"/>
          <p:nvPr/>
        </p:nvSpPr>
        <p:spPr>
          <a:xfrm>
            <a:off x="590550" y="180603"/>
            <a:ext cx="869936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chemeClr val="accent1">
                    <a:lumMod val="75000"/>
                  </a:schemeClr>
                </a:solidFill>
                <a:latin typeface="+mj-lt"/>
                <a:ea typeface="Poppins SemiBold"/>
                <a:cs typeface="Poppins SemiBold"/>
                <a:sym typeface="Poppins SemiBold"/>
              </a:rPr>
              <a:t>Six-Phase DL-Based Evaluation Architecture</a:t>
            </a:r>
            <a:endParaRPr sz="3600" b="1" dirty="0">
              <a:solidFill>
                <a:schemeClr val="accent1">
                  <a:lumMod val="75000"/>
                </a:schemeClr>
              </a:solidFill>
              <a:latin typeface="+mj-lt"/>
            </a:endParaRPr>
          </a:p>
        </p:txBody>
      </p:sp>
      <p:sp>
        <p:nvSpPr>
          <p:cNvPr id="2" name="Slide Number Placeholder 1">
            <a:extLst>
              <a:ext uri="{FF2B5EF4-FFF2-40B4-BE49-F238E27FC236}">
                <a16:creationId xmlns:a16="http://schemas.microsoft.com/office/drawing/2014/main" id="{504BFBCF-1696-2DEF-60E2-A3A188C94A22}"/>
              </a:ext>
            </a:extLst>
          </p:cNvPr>
          <p:cNvSpPr>
            <a:spLocks noGrp="1"/>
          </p:cNvSpPr>
          <p:nvPr>
            <p:ph type="sldNum" sz="quarter" idx="12"/>
          </p:nvPr>
        </p:nvSpPr>
        <p:spPr>
          <a:xfrm>
            <a:off x="8928358" y="6494834"/>
            <a:ext cx="516350" cy="365125"/>
          </a:xfrm>
        </p:spPr>
        <p:txBody>
          <a:bodyPr/>
          <a:lstStyle/>
          <a:p>
            <a:pPr marL="0" lvl="0" indent="0" algn="r" rtl="0">
              <a:spcBef>
                <a:spcPts val="0"/>
              </a:spcBef>
              <a:spcAft>
                <a:spcPts val="0"/>
              </a:spcAft>
              <a:buNone/>
            </a:pPr>
            <a:fld id="{00000000-1234-1234-1234-123412341234}" type="slidenum">
              <a:rPr lang="en-US" b="1" smtClean="0"/>
              <a:t>10</a:t>
            </a:fld>
            <a:endParaRPr lang="en-US" b="1" dirty="0"/>
          </a:p>
        </p:txBody>
      </p:sp>
      <p:sp>
        <p:nvSpPr>
          <p:cNvPr id="3" name="Date Placeholder 2">
            <a:extLst>
              <a:ext uri="{FF2B5EF4-FFF2-40B4-BE49-F238E27FC236}">
                <a16:creationId xmlns:a16="http://schemas.microsoft.com/office/drawing/2014/main" id="{0C05DA39-C4E7-5D54-ED1F-F5A90FDA0563}"/>
              </a:ext>
            </a:extLst>
          </p:cNvPr>
          <p:cNvSpPr>
            <a:spLocks noGrp="1"/>
          </p:cNvSpPr>
          <p:nvPr>
            <p:ph type="dt" sz="half" idx="10"/>
          </p:nvPr>
        </p:nvSpPr>
        <p:spPr>
          <a:xfrm>
            <a:off x="7441518" y="6492875"/>
            <a:ext cx="2743200" cy="365125"/>
          </a:xfrm>
        </p:spPr>
        <p:txBody>
          <a:bodyPr/>
          <a:lstStyle/>
          <a:p>
            <a:fld id="{240A84DB-F1E4-45A7-897B-EBE31D9485A1}" type="datetime9">
              <a:rPr lang="en-US" b="1" smtClean="0">
                <a:solidFill>
                  <a:srgbClr val="7030A0"/>
                </a:solidFill>
              </a:rPr>
              <a:t>5/16/2026 10:59:48 PM</a:t>
            </a:fld>
            <a:endParaRPr lang="en-CA" b="1" dirty="0">
              <a:solidFill>
                <a:srgbClr val="7030A0"/>
              </a:solidFill>
            </a:endParaRPr>
          </a:p>
        </p:txBody>
      </p:sp>
      <p:pic>
        <p:nvPicPr>
          <p:cNvPr id="5" name="Picture 4">
            <a:extLst>
              <a:ext uri="{FF2B5EF4-FFF2-40B4-BE49-F238E27FC236}">
                <a16:creationId xmlns:a16="http://schemas.microsoft.com/office/drawing/2014/main" id="{51E1C66E-7271-0070-E281-3DAF5433AF61}"/>
              </a:ext>
            </a:extLst>
          </p:cNvPr>
          <p:cNvPicPr>
            <a:picLocks noChangeAspect="1"/>
          </p:cNvPicPr>
          <p:nvPr/>
        </p:nvPicPr>
        <p:blipFill>
          <a:blip r:embed="rId3"/>
          <a:stretch>
            <a:fillRect/>
          </a:stretch>
        </p:blipFill>
        <p:spPr>
          <a:xfrm>
            <a:off x="280555" y="831273"/>
            <a:ext cx="11627427" cy="555913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4" name="Google Shape;204;p24" descr="image.png"/>
          <p:cNvPicPr preferRelativeResize="0"/>
          <p:nvPr/>
        </p:nvPicPr>
        <p:blipFill rotWithShape="1">
          <a:blip r:embed="rId3">
            <a:alphaModFix/>
          </a:blip>
          <a:srcRect/>
          <a:stretch/>
        </p:blipFill>
        <p:spPr>
          <a:xfrm>
            <a:off x="2602051" y="1714500"/>
            <a:ext cx="6928576" cy="752475"/>
          </a:xfrm>
          <a:prstGeom prst="rect">
            <a:avLst/>
          </a:prstGeom>
          <a:noFill/>
          <a:ln>
            <a:noFill/>
          </a:ln>
        </p:spPr>
      </p:pic>
      <p:pic>
        <p:nvPicPr>
          <p:cNvPr id="205" name="Google Shape;205;p24" descr="image.png"/>
          <p:cNvPicPr preferRelativeResize="0"/>
          <p:nvPr/>
        </p:nvPicPr>
        <p:blipFill rotWithShape="1">
          <a:blip r:embed="rId4">
            <a:alphaModFix/>
          </a:blip>
          <a:srcRect/>
          <a:stretch/>
        </p:blipFill>
        <p:spPr>
          <a:xfrm>
            <a:off x="3120142" y="2005510"/>
            <a:ext cx="6028580" cy="214312"/>
          </a:xfrm>
          <a:prstGeom prst="rect">
            <a:avLst/>
          </a:prstGeom>
          <a:noFill/>
          <a:ln>
            <a:noFill/>
          </a:ln>
        </p:spPr>
      </p:pic>
      <p:sp>
        <p:nvSpPr>
          <p:cNvPr id="206" name="Google Shape;206;p24"/>
          <p:cNvSpPr txBox="1"/>
          <p:nvPr/>
        </p:nvSpPr>
        <p:spPr>
          <a:xfrm>
            <a:off x="571501" y="2943225"/>
            <a:ext cx="2735904"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chemeClr val="accent1">
                    <a:lumMod val="75000"/>
                  </a:schemeClr>
                </a:solidFill>
                <a:latin typeface="Poppins SemiBold"/>
                <a:ea typeface="Poppins SemiBold"/>
                <a:cs typeface="Poppins SemiBold"/>
                <a:sym typeface="Poppins SemiBold"/>
              </a:rPr>
              <a:t>Raw I/Q Sequences</a:t>
            </a:r>
            <a:endParaRPr b="1" dirty="0">
              <a:solidFill>
                <a:schemeClr val="accent1">
                  <a:lumMod val="75000"/>
                </a:schemeClr>
              </a:solidFill>
            </a:endParaRPr>
          </a:p>
        </p:txBody>
      </p:sp>
      <p:sp>
        <p:nvSpPr>
          <p:cNvPr id="207" name="Google Shape;207;p24"/>
          <p:cNvSpPr txBox="1"/>
          <p:nvPr/>
        </p:nvSpPr>
        <p:spPr>
          <a:xfrm>
            <a:off x="571501" y="3533775"/>
            <a:ext cx="4767161" cy="221599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chemeClr val="accent1">
                    <a:lumMod val="75000"/>
                  </a:schemeClr>
                </a:solidFill>
                <a:latin typeface="Inter"/>
                <a:ea typeface="Inter"/>
                <a:cs typeface="Inter"/>
                <a:sym typeface="Inter"/>
              </a:rPr>
              <a:t>Complex baseband In-Phase and Quadrature (I/Q) samples are fed directly into recurrent and complex-valued models. This preserves vital phase dynamics, temporal dependencies, and subtle waveform geometries critical for surviving low SNR environments.</a:t>
            </a:r>
            <a:endParaRPr dirty="0">
              <a:solidFill>
                <a:schemeClr val="accent1">
                  <a:lumMod val="75000"/>
                </a:schemeClr>
              </a:solidFill>
            </a:endParaRPr>
          </a:p>
        </p:txBody>
      </p:sp>
      <p:sp>
        <p:nvSpPr>
          <p:cNvPr id="208" name="Google Shape;208;p24"/>
          <p:cNvSpPr txBox="1"/>
          <p:nvPr/>
        </p:nvSpPr>
        <p:spPr>
          <a:xfrm>
            <a:off x="6334126" y="2943225"/>
            <a:ext cx="2795140"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chemeClr val="accent1">
                    <a:lumMod val="75000"/>
                  </a:schemeClr>
                </a:solidFill>
                <a:latin typeface="Poppins SemiBold"/>
                <a:ea typeface="Poppins SemiBold"/>
                <a:cs typeface="Poppins SemiBold"/>
                <a:sym typeface="Poppins SemiBold"/>
              </a:rPr>
              <a:t>Time-Frequency 2D</a:t>
            </a:r>
            <a:endParaRPr b="1" dirty="0">
              <a:solidFill>
                <a:schemeClr val="accent1">
                  <a:lumMod val="75000"/>
                </a:schemeClr>
              </a:solidFill>
            </a:endParaRPr>
          </a:p>
        </p:txBody>
      </p:sp>
      <p:sp>
        <p:nvSpPr>
          <p:cNvPr id="209" name="Google Shape;209;p24"/>
          <p:cNvSpPr txBox="1"/>
          <p:nvPr/>
        </p:nvSpPr>
        <p:spPr>
          <a:xfrm>
            <a:off x="6334126" y="3533775"/>
            <a:ext cx="4862410" cy="184665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chemeClr val="accent1">
                    <a:lumMod val="75000"/>
                  </a:schemeClr>
                </a:solidFill>
                <a:latin typeface="Inter"/>
                <a:ea typeface="Inter"/>
                <a:cs typeface="Inter"/>
                <a:sym typeface="Inter"/>
              </a:rPr>
              <a:t>Short-time windows of I/Q samples are transformed into 2D representations (e.g., spectrograms) for the Convolutional models. This allows CNNs to leverage spatial-spectral filtering to detect localized energy signatures across different sub-carriers.</a:t>
            </a:r>
            <a:endParaRPr dirty="0">
              <a:solidFill>
                <a:schemeClr val="accent1">
                  <a:lumMod val="75000"/>
                </a:schemeClr>
              </a:solidFill>
            </a:endParaRPr>
          </a:p>
        </p:txBody>
      </p:sp>
      <p:sp>
        <p:nvSpPr>
          <p:cNvPr id="210" name="Google Shape;210;p24"/>
          <p:cNvSpPr txBox="1"/>
          <p:nvPr/>
        </p:nvSpPr>
        <p:spPr>
          <a:xfrm>
            <a:off x="571500" y="571500"/>
            <a:ext cx="4866262"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chemeClr val="accent1">
                    <a:lumMod val="75000"/>
                  </a:schemeClr>
                </a:solidFill>
                <a:latin typeface="+mj-lt"/>
                <a:ea typeface="Poppins SemiBold"/>
                <a:cs typeface="Poppins SemiBold"/>
                <a:sym typeface="Poppins SemiBold"/>
              </a:rPr>
              <a:t>Feature Representations</a:t>
            </a:r>
            <a:endParaRPr sz="3600" b="1" dirty="0">
              <a:solidFill>
                <a:schemeClr val="accent1">
                  <a:lumMod val="75000"/>
                </a:schemeClr>
              </a:solidFill>
              <a:latin typeface="+mj-lt"/>
            </a:endParaRPr>
          </a:p>
        </p:txBody>
      </p:sp>
      <p:sp>
        <p:nvSpPr>
          <p:cNvPr id="2" name="Slide Number Placeholder 1">
            <a:extLst>
              <a:ext uri="{FF2B5EF4-FFF2-40B4-BE49-F238E27FC236}">
                <a16:creationId xmlns:a16="http://schemas.microsoft.com/office/drawing/2014/main" id="{895936FD-316D-0773-8A6D-B704E6F4D00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b="1" smtClean="0">
                <a:solidFill>
                  <a:schemeClr val="accent1">
                    <a:lumMod val="75000"/>
                  </a:schemeClr>
                </a:solidFill>
              </a:rPr>
              <a:t>11</a:t>
            </a:fld>
            <a:endParaRPr lang="en-US" b="1" dirty="0">
              <a:solidFill>
                <a:schemeClr val="accent1">
                  <a:lumMod val="75000"/>
                </a:schemeClr>
              </a:solidFill>
            </a:endParaRPr>
          </a:p>
        </p:txBody>
      </p:sp>
      <p:pic>
        <p:nvPicPr>
          <p:cNvPr id="3" name="Picture 2">
            <a:extLst>
              <a:ext uri="{FF2B5EF4-FFF2-40B4-BE49-F238E27FC236}">
                <a16:creationId xmlns:a16="http://schemas.microsoft.com/office/drawing/2014/main" id="{44A38D6B-5A8B-C82A-6DCB-0505D2C12635}"/>
              </a:ext>
            </a:extLst>
          </p:cNvPr>
          <p:cNvPicPr>
            <a:picLocks noChangeAspect="1"/>
          </p:cNvPicPr>
          <p:nvPr/>
        </p:nvPicPr>
        <p:blipFill>
          <a:blip r:embed="rId5"/>
          <a:stretch>
            <a:fillRect/>
          </a:stretch>
        </p:blipFill>
        <p:spPr>
          <a:xfrm>
            <a:off x="76204" y="5868185"/>
            <a:ext cx="903221" cy="903221"/>
          </a:xfrm>
          <a:prstGeom prst="rect">
            <a:avLst/>
          </a:prstGeom>
        </p:spPr>
      </p:pic>
      <p:sp>
        <p:nvSpPr>
          <p:cNvPr id="4" name="Date Placeholder 3">
            <a:extLst>
              <a:ext uri="{FF2B5EF4-FFF2-40B4-BE49-F238E27FC236}">
                <a16:creationId xmlns:a16="http://schemas.microsoft.com/office/drawing/2014/main" id="{A3EBB0C1-6513-C38E-8816-155D60940C2F}"/>
              </a:ext>
            </a:extLst>
          </p:cNvPr>
          <p:cNvSpPr>
            <a:spLocks noGrp="1"/>
          </p:cNvSpPr>
          <p:nvPr>
            <p:ph type="dt" sz="half" idx="10"/>
          </p:nvPr>
        </p:nvSpPr>
        <p:spPr>
          <a:xfrm>
            <a:off x="9129266" y="6356350"/>
            <a:ext cx="2743200" cy="365125"/>
          </a:xfrm>
        </p:spPr>
        <p:txBody>
          <a:bodyPr/>
          <a:lstStyle/>
          <a:p>
            <a:fld id="{254FE0D7-3637-45DF-821A-4AC364E7DDD7}" type="datetime9">
              <a:rPr lang="en-US" b="1" smtClean="0">
                <a:solidFill>
                  <a:srgbClr val="7030A0"/>
                </a:solidFill>
              </a:rPr>
              <a:t>5/16/2026 10:59:48 PM</a:t>
            </a:fld>
            <a:endParaRPr lang="en-CA" b="1" dirty="0">
              <a:solidFill>
                <a:srgbClr val="7030A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9" name="Google Shape;219;p25"/>
          <p:cNvSpPr txBox="1"/>
          <p:nvPr/>
        </p:nvSpPr>
        <p:spPr>
          <a:xfrm>
            <a:off x="761999" y="3700430"/>
            <a:ext cx="1416996"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dirty="0">
                <a:solidFill>
                  <a:schemeClr val="accent1">
                    <a:lumMod val="75000"/>
                  </a:schemeClr>
                </a:solidFill>
                <a:latin typeface="Poppins SemiBold"/>
                <a:ea typeface="Poppins SemiBold"/>
                <a:cs typeface="Poppins SemiBold"/>
                <a:sym typeface="Poppins SemiBold"/>
              </a:rPr>
              <a:t>CNN Models</a:t>
            </a:r>
            <a:endParaRPr dirty="0">
              <a:solidFill>
                <a:schemeClr val="accent1">
                  <a:lumMod val="75000"/>
                </a:schemeClr>
              </a:solidFill>
            </a:endParaRPr>
          </a:p>
        </p:txBody>
      </p:sp>
      <p:sp>
        <p:nvSpPr>
          <p:cNvPr id="220" name="Google Shape;220;p25"/>
          <p:cNvSpPr txBox="1"/>
          <p:nvPr/>
        </p:nvSpPr>
        <p:spPr>
          <a:xfrm>
            <a:off x="761999" y="3911757"/>
            <a:ext cx="3122667" cy="177279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b="0" i="0" u="none" strike="noStrike" cap="none" dirty="0">
                <a:latin typeface="Inter"/>
                <a:ea typeface="Inter"/>
                <a:cs typeface="Inter"/>
                <a:sym typeface="Inter"/>
              </a:rPr>
              <a:t>Focuses on spatial-spectral filtering and extracting visual-like patterns from frequency distributions</a:t>
            </a:r>
            <a:endParaRPr dirty="0"/>
          </a:p>
        </p:txBody>
      </p:sp>
      <p:sp>
        <p:nvSpPr>
          <p:cNvPr id="221" name="Google Shape;221;p25"/>
          <p:cNvSpPr txBox="1"/>
          <p:nvPr/>
        </p:nvSpPr>
        <p:spPr>
          <a:xfrm>
            <a:off x="4542816" y="3700430"/>
            <a:ext cx="1322962"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dirty="0">
                <a:solidFill>
                  <a:schemeClr val="accent1">
                    <a:lumMod val="75000"/>
                  </a:schemeClr>
                </a:solidFill>
                <a:latin typeface="Poppins SemiBold"/>
                <a:ea typeface="Poppins SemiBold"/>
                <a:cs typeface="Poppins SemiBold"/>
                <a:sym typeface="Poppins SemiBold"/>
              </a:rPr>
              <a:t>LSTM / GRU</a:t>
            </a:r>
            <a:endParaRPr dirty="0">
              <a:solidFill>
                <a:schemeClr val="accent1">
                  <a:lumMod val="75000"/>
                </a:schemeClr>
              </a:solidFill>
            </a:endParaRPr>
          </a:p>
        </p:txBody>
      </p:sp>
      <p:sp>
        <p:nvSpPr>
          <p:cNvPr id="222" name="Google Shape;222;p25"/>
          <p:cNvSpPr txBox="1"/>
          <p:nvPr/>
        </p:nvSpPr>
        <p:spPr>
          <a:xfrm>
            <a:off x="4542816" y="3954346"/>
            <a:ext cx="3048000" cy="177279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b="0" i="0" u="none" strike="noStrike" cap="none" dirty="0">
                <a:latin typeface="Inter"/>
                <a:ea typeface="Inter"/>
                <a:cs typeface="Inter"/>
                <a:sym typeface="Inter"/>
              </a:rPr>
              <a:t>Designed to strictly map temporal dependencies &amp; complex sequence transitions over time</a:t>
            </a:r>
            <a:endParaRPr dirty="0"/>
          </a:p>
        </p:txBody>
      </p:sp>
      <p:sp>
        <p:nvSpPr>
          <p:cNvPr id="223" name="Google Shape;223;p25"/>
          <p:cNvSpPr txBox="1"/>
          <p:nvPr/>
        </p:nvSpPr>
        <p:spPr>
          <a:xfrm>
            <a:off x="8382000" y="3700430"/>
            <a:ext cx="1345660"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dirty="0">
                <a:solidFill>
                  <a:schemeClr val="accent1">
                    <a:lumMod val="75000"/>
                  </a:schemeClr>
                </a:solidFill>
                <a:latin typeface="Poppins SemiBold"/>
                <a:ea typeface="Poppins SemiBold"/>
                <a:cs typeface="Poppins SemiBold"/>
                <a:sym typeface="Poppins SemiBold"/>
              </a:rPr>
              <a:t>PETCGDNN</a:t>
            </a:r>
            <a:endParaRPr dirty="0">
              <a:solidFill>
                <a:schemeClr val="accent1">
                  <a:lumMod val="75000"/>
                </a:schemeClr>
              </a:solidFill>
            </a:endParaRPr>
          </a:p>
        </p:txBody>
      </p:sp>
      <p:sp>
        <p:nvSpPr>
          <p:cNvPr id="224" name="Google Shape;224;p25"/>
          <p:cNvSpPr txBox="1"/>
          <p:nvPr/>
        </p:nvSpPr>
        <p:spPr>
          <a:xfrm>
            <a:off x="8382000" y="3954346"/>
            <a:ext cx="3200400" cy="177279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b="0" i="0" u="none" strike="noStrike" cap="none" dirty="0">
                <a:latin typeface="Inter"/>
                <a:ea typeface="Inter"/>
                <a:cs typeface="Inter"/>
                <a:sym typeface="Inter"/>
              </a:rPr>
              <a:t>A lightweight, phase-aware network emphasizing extreme low-SNR robustness without memory bloat</a:t>
            </a:r>
            <a:endParaRPr dirty="0"/>
          </a:p>
        </p:txBody>
      </p:sp>
      <p:pic>
        <p:nvPicPr>
          <p:cNvPr id="225" name="Google Shape;225;p25"/>
          <p:cNvPicPr preferRelativeResize="0"/>
          <p:nvPr/>
        </p:nvPicPr>
        <p:blipFill>
          <a:blip r:embed="rId3">
            <a:alphaModFix/>
          </a:blip>
          <a:srcRect/>
          <a:stretch/>
        </p:blipFill>
        <p:spPr>
          <a:xfrm>
            <a:off x="762000" y="1524002"/>
            <a:ext cx="3048000" cy="2002534"/>
          </a:xfrm>
          <a:prstGeom prst="rect">
            <a:avLst/>
          </a:prstGeom>
          <a:noFill/>
          <a:ln>
            <a:noFill/>
          </a:ln>
        </p:spPr>
      </p:pic>
      <p:pic>
        <p:nvPicPr>
          <p:cNvPr id="226" name="Google Shape;226;p25"/>
          <p:cNvPicPr preferRelativeResize="0"/>
          <p:nvPr/>
        </p:nvPicPr>
        <p:blipFill>
          <a:blip r:embed="rId4">
            <a:alphaModFix/>
          </a:blip>
          <a:srcRect/>
          <a:stretch/>
        </p:blipFill>
        <p:spPr>
          <a:xfrm>
            <a:off x="4572000" y="1524002"/>
            <a:ext cx="3048000" cy="2002534"/>
          </a:xfrm>
          <a:prstGeom prst="rect">
            <a:avLst/>
          </a:prstGeom>
          <a:noFill/>
          <a:ln>
            <a:noFill/>
          </a:ln>
        </p:spPr>
      </p:pic>
      <p:pic>
        <p:nvPicPr>
          <p:cNvPr id="227" name="Google Shape;227;p25"/>
          <p:cNvPicPr preferRelativeResize="0"/>
          <p:nvPr/>
        </p:nvPicPr>
        <p:blipFill>
          <a:blip r:embed="rId5">
            <a:alphaModFix/>
          </a:blip>
          <a:srcRect t="14674"/>
          <a:stretch>
            <a:fillRect/>
          </a:stretch>
        </p:blipFill>
        <p:spPr>
          <a:xfrm>
            <a:off x="8229600" y="1446343"/>
            <a:ext cx="3352800" cy="2080193"/>
          </a:xfrm>
          <a:prstGeom prst="rect">
            <a:avLst/>
          </a:prstGeom>
          <a:noFill/>
          <a:ln>
            <a:noFill/>
          </a:ln>
        </p:spPr>
      </p:pic>
      <p:sp>
        <p:nvSpPr>
          <p:cNvPr id="228" name="Google Shape;228;p25"/>
          <p:cNvSpPr txBox="1"/>
          <p:nvPr/>
        </p:nvSpPr>
        <p:spPr>
          <a:xfrm>
            <a:off x="571500" y="571500"/>
            <a:ext cx="5323462"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chemeClr val="accent1">
                    <a:lumMod val="75000"/>
                  </a:schemeClr>
                </a:solidFill>
                <a:latin typeface="+mj-lt"/>
                <a:ea typeface="Poppins SemiBold"/>
                <a:cs typeface="Poppins SemiBold"/>
                <a:sym typeface="Poppins SemiBold"/>
              </a:rPr>
              <a:t>Evaluated DL Architectures</a:t>
            </a:r>
            <a:endParaRPr sz="3600" b="1" dirty="0">
              <a:solidFill>
                <a:schemeClr val="accent1">
                  <a:lumMod val="75000"/>
                </a:schemeClr>
              </a:solidFill>
              <a:latin typeface="+mj-lt"/>
            </a:endParaRPr>
          </a:p>
        </p:txBody>
      </p:sp>
      <p:sp>
        <p:nvSpPr>
          <p:cNvPr id="2" name="Slide Number Placeholder 1">
            <a:extLst>
              <a:ext uri="{FF2B5EF4-FFF2-40B4-BE49-F238E27FC236}">
                <a16:creationId xmlns:a16="http://schemas.microsoft.com/office/drawing/2014/main" id="{6BB7713F-2476-8221-A876-43750037CD0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b="1" smtClean="0"/>
              <a:t>12</a:t>
            </a:fld>
            <a:endParaRPr lang="en-US" b="1" dirty="0"/>
          </a:p>
        </p:txBody>
      </p:sp>
      <p:pic>
        <p:nvPicPr>
          <p:cNvPr id="3" name="Picture 2">
            <a:extLst>
              <a:ext uri="{FF2B5EF4-FFF2-40B4-BE49-F238E27FC236}">
                <a16:creationId xmlns:a16="http://schemas.microsoft.com/office/drawing/2014/main" id="{324731FE-D19F-5AEE-CF8A-2BB9A457E491}"/>
              </a:ext>
            </a:extLst>
          </p:cNvPr>
          <p:cNvPicPr>
            <a:picLocks noChangeAspect="1"/>
          </p:cNvPicPr>
          <p:nvPr/>
        </p:nvPicPr>
        <p:blipFill>
          <a:blip r:embed="rId6"/>
          <a:stretch>
            <a:fillRect/>
          </a:stretch>
        </p:blipFill>
        <p:spPr>
          <a:xfrm>
            <a:off x="76204" y="5868185"/>
            <a:ext cx="903221" cy="903221"/>
          </a:xfrm>
          <a:prstGeom prst="rect">
            <a:avLst/>
          </a:prstGeom>
        </p:spPr>
      </p:pic>
      <p:sp>
        <p:nvSpPr>
          <p:cNvPr id="4" name="Date Placeholder 3">
            <a:extLst>
              <a:ext uri="{FF2B5EF4-FFF2-40B4-BE49-F238E27FC236}">
                <a16:creationId xmlns:a16="http://schemas.microsoft.com/office/drawing/2014/main" id="{5D634036-3814-0C6A-A864-32C9B2971F89}"/>
              </a:ext>
            </a:extLst>
          </p:cNvPr>
          <p:cNvSpPr>
            <a:spLocks noGrp="1"/>
          </p:cNvSpPr>
          <p:nvPr>
            <p:ph type="dt" sz="half" idx="10"/>
          </p:nvPr>
        </p:nvSpPr>
        <p:spPr>
          <a:xfrm>
            <a:off x="9196675" y="6360995"/>
            <a:ext cx="2743200" cy="365125"/>
          </a:xfrm>
        </p:spPr>
        <p:txBody>
          <a:bodyPr/>
          <a:lstStyle/>
          <a:p>
            <a:fld id="{D19DF628-8EF8-4A1C-909F-1411B478DAD2}" type="datetime9">
              <a:rPr lang="en-US" b="1" smtClean="0">
                <a:solidFill>
                  <a:srgbClr val="7030A0"/>
                </a:solidFill>
              </a:rPr>
              <a:t>5/16/2026 10:59:48 PM</a:t>
            </a:fld>
            <a:endParaRPr lang="en-CA" b="1" dirty="0">
              <a:solidFill>
                <a:srgbClr val="7030A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40" name="Google Shape;240;p26"/>
          <p:cNvSpPr txBox="1"/>
          <p:nvPr/>
        </p:nvSpPr>
        <p:spPr>
          <a:xfrm>
            <a:off x="571500" y="165601"/>
            <a:ext cx="474953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chemeClr val="accent1">
                    <a:lumMod val="75000"/>
                  </a:schemeClr>
                </a:solidFill>
                <a:latin typeface="+mj-lt"/>
                <a:ea typeface="Poppins SemiBold"/>
                <a:cs typeface="Poppins SemiBold"/>
                <a:sym typeface="Poppins SemiBold"/>
              </a:rPr>
              <a:t>Architecture Deep-Dive</a:t>
            </a:r>
            <a:endParaRPr sz="3600" b="1" dirty="0">
              <a:solidFill>
                <a:schemeClr val="accent1">
                  <a:lumMod val="75000"/>
                </a:schemeClr>
              </a:solidFill>
              <a:latin typeface="+mj-lt"/>
            </a:endParaRPr>
          </a:p>
        </p:txBody>
      </p:sp>
      <p:sp>
        <p:nvSpPr>
          <p:cNvPr id="2" name="Slide Number Placeholder 1">
            <a:extLst>
              <a:ext uri="{FF2B5EF4-FFF2-40B4-BE49-F238E27FC236}">
                <a16:creationId xmlns:a16="http://schemas.microsoft.com/office/drawing/2014/main" id="{6FC4F116-1677-01D9-ECB6-B182B2C0294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b="1" smtClean="0"/>
              <a:t>13</a:t>
            </a:fld>
            <a:endParaRPr lang="en-US" b="1" dirty="0"/>
          </a:p>
        </p:txBody>
      </p:sp>
      <p:pic>
        <p:nvPicPr>
          <p:cNvPr id="4" name="Picture 3">
            <a:extLst>
              <a:ext uri="{FF2B5EF4-FFF2-40B4-BE49-F238E27FC236}">
                <a16:creationId xmlns:a16="http://schemas.microsoft.com/office/drawing/2014/main" id="{6CCE09A4-A8E5-AF94-3B2D-F4F62BA67917}"/>
              </a:ext>
            </a:extLst>
          </p:cNvPr>
          <p:cNvPicPr>
            <a:picLocks noChangeAspect="1"/>
          </p:cNvPicPr>
          <p:nvPr/>
        </p:nvPicPr>
        <p:blipFill>
          <a:blip r:embed="rId3"/>
          <a:srcRect l="11161" t="5950" r="12075" b="6459"/>
          <a:stretch>
            <a:fillRect/>
          </a:stretch>
        </p:blipFill>
        <p:spPr>
          <a:xfrm>
            <a:off x="571500" y="980759"/>
            <a:ext cx="9977854" cy="4613749"/>
          </a:xfrm>
          <a:prstGeom prst="rect">
            <a:avLst/>
          </a:prstGeom>
        </p:spPr>
      </p:pic>
      <p:pic>
        <p:nvPicPr>
          <p:cNvPr id="3" name="Picture 2">
            <a:extLst>
              <a:ext uri="{FF2B5EF4-FFF2-40B4-BE49-F238E27FC236}">
                <a16:creationId xmlns:a16="http://schemas.microsoft.com/office/drawing/2014/main" id="{AC78A3F9-FD22-3B8B-5BDB-ABB1FD9E85AC}"/>
              </a:ext>
            </a:extLst>
          </p:cNvPr>
          <p:cNvPicPr>
            <a:picLocks noChangeAspect="1"/>
          </p:cNvPicPr>
          <p:nvPr/>
        </p:nvPicPr>
        <p:blipFill>
          <a:blip r:embed="rId4"/>
          <a:stretch>
            <a:fillRect/>
          </a:stretch>
        </p:blipFill>
        <p:spPr>
          <a:xfrm>
            <a:off x="76204" y="5868185"/>
            <a:ext cx="903221" cy="903221"/>
          </a:xfrm>
          <a:prstGeom prst="rect">
            <a:avLst/>
          </a:prstGeom>
        </p:spPr>
      </p:pic>
      <p:sp>
        <p:nvSpPr>
          <p:cNvPr id="5" name="Date Placeholder 4">
            <a:extLst>
              <a:ext uri="{FF2B5EF4-FFF2-40B4-BE49-F238E27FC236}">
                <a16:creationId xmlns:a16="http://schemas.microsoft.com/office/drawing/2014/main" id="{E3B8B1A3-3651-3D0A-069B-007E5DA204D9}"/>
              </a:ext>
            </a:extLst>
          </p:cNvPr>
          <p:cNvSpPr>
            <a:spLocks noGrp="1"/>
          </p:cNvSpPr>
          <p:nvPr>
            <p:ph type="dt" sz="half" idx="10"/>
          </p:nvPr>
        </p:nvSpPr>
        <p:spPr>
          <a:xfrm>
            <a:off x="8952284" y="6356350"/>
            <a:ext cx="2743200" cy="365125"/>
          </a:xfrm>
        </p:spPr>
        <p:txBody>
          <a:bodyPr/>
          <a:lstStyle/>
          <a:p>
            <a:fld id="{DDDC50BD-29B6-4135-A101-45968E311FF7}" type="datetime9">
              <a:rPr lang="en-US" b="1" smtClean="0">
                <a:solidFill>
                  <a:srgbClr val="7030A0"/>
                </a:solidFill>
              </a:rPr>
              <a:t>5/16/2026 10:59:48 PM</a:t>
            </a:fld>
            <a:endParaRPr lang="en-CA" b="1" dirty="0">
              <a:solidFill>
                <a:srgbClr val="7030A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8" name="Google Shape;328;p33"/>
          <p:cNvSpPr/>
          <p:nvPr/>
        </p:nvSpPr>
        <p:spPr>
          <a:xfrm>
            <a:off x="5524500" y="2546151"/>
            <a:ext cx="1143000" cy="47700"/>
          </a:xfrm>
          <a:prstGeom prst="rect">
            <a:avLst/>
          </a:prstGeom>
          <a:solidFill>
            <a:srgbClr val="00E5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tx1">
                  <a:lumMod val="85000"/>
                  <a:lumOff val="15000"/>
                </a:schemeClr>
              </a:solidFill>
              <a:latin typeface="Calibri"/>
              <a:ea typeface="Calibri"/>
              <a:cs typeface="Calibri"/>
              <a:sym typeface="Calibri"/>
            </a:endParaRPr>
          </a:p>
        </p:txBody>
      </p:sp>
      <p:sp>
        <p:nvSpPr>
          <p:cNvPr id="329" name="Google Shape;329;p33"/>
          <p:cNvSpPr txBox="1"/>
          <p:nvPr/>
        </p:nvSpPr>
        <p:spPr>
          <a:xfrm>
            <a:off x="1100400" y="2653749"/>
            <a:ext cx="9991200"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dirty="0">
                <a:latin typeface="+mj-lt"/>
                <a:ea typeface="Poppins SemiBold"/>
                <a:cs typeface="Poppins SemiBold"/>
                <a:sym typeface="Poppins SemiBold"/>
              </a:rPr>
              <a:t>Phase 5: Performance Evaluation</a:t>
            </a:r>
            <a:endParaRPr sz="4800" b="1" dirty="0">
              <a:latin typeface="+mj-lt"/>
            </a:endParaRPr>
          </a:p>
        </p:txBody>
      </p:sp>
      <p:sp>
        <p:nvSpPr>
          <p:cNvPr id="330" name="Google Shape;330;p33"/>
          <p:cNvSpPr txBox="1"/>
          <p:nvPr/>
        </p:nvSpPr>
        <p:spPr>
          <a:xfrm>
            <a:off x="2491325" y="3429000"/>
            <a:ext cx="7441660" cy="81253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1" i="0" u="none" strike="noStrike" cap="none" dirty="0">
                <a:solidFill>
                  <a:schemeClr val="accent1">
                    <a:lumMod val="75000"/>
                  </a:schemeClr>
                </a:solidFill>
                <a:latin typeface="Inter"/>
                <a:ea typeface="Inter"/>
                <a:cs typeface="Inter"/>
                <a:sym typeface="Inter"/>
              </a:rPr>
              <a:t>Analyzing model robustness and structural generalization across heterogeneous RF datasets under realistic channel impairments.</a:t>
            </a:r>
            <a:endParaRPr b="1" dirty="0">
              <a:solidFill>
                <a:schemeClr val="accent1">
                  <a:lumMod val="75000"/>
                </a:schemeClr>
              </a:solidFill>
            </a:endParaRPr>
          </a:p>
        </p:txBody>
      </p:sp>
      <p:sp>
        <p:nvSpPr>
          <p:cNvPr id="2" name="Slide Number Placeholder 1">
            <a:extLst>
              <a:ext uri="{FF2B5EF4-FFF2-40B4-BE49-F238E27FC236}">
                <a16:creationId xmlns:a16="http://schemas.microsoft.com/office/drawing/2014/main" id="{2BE6D1AE-E738-A597-F3C6-2095B5A8CFD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b="1" smtClean="0">
                <a:solidFill>
                  <a:schemeClr val="tx1">
                    <a:lumMod val="85000"/>
                    <a:lumOff val="15000"/>
                  </a:schemeClr>
                </a:solidFill>
              </a:rPr>
              <a:t>14</a:t>
            </a:fld>
            <a:endParaRPr lang="en-US" b="1" dirty="0">
              <a:solidFill>
                <a:schemeClr val="tx1">
                  <a:lumMod val="85000"/>
                  <a:lumOff val="15000"/>
                </a:schemeClr>
              </a:solidFill>
            </a:endParaRPr>
          </a:p>
        </p:txBody>
      </p:sp>
      <p:sp>
        <p:nvSpPr>
          <p:cNvPr id="3" name="Date Placeholder 2">
            <a:extLst>
              <a:ext uri="{FF2B5EF4-FFF2-40B4-BE49-F238E27FC236}">
                <a16:creationId xmlns:a16="http://schemas.microsoft.com/office/drawing/2014/main" id="{1E7F6B2C-B1FA-957D-A071-A6219A6B477D}"/>
              </a:ext>
            </a:extLst>
          </p:cNvPr>
          <p:cNvSpPr>
            <a:spLocks noGrp="1"/>
          </p:cNvSpPr>
          <p:nvPr>
            <p:ph type="dt" sz="half" idx="10"/>
          </p:nvPr>
        </p:nvSpPr>
        <p:spPr>
          <a:xfrm>
            <a:off x="9098485" y="6356350"/>
            <a:ext cx="2743200" cy="365125"/>
          </a:xfrm>
        </p:spPr>
        <p:txBody>
          <a:bodyPr/>
          <a:lstStyle/>
          <a:p>
            <a:fld id="{3133AD8F-A7B8-4AC7-80B4-F5BC53A406A4}" type="datetime9">
              <a:rPr lang="en-US" b="1" smtClean="0">
                <a:solidFill>
                  <a:srgbClr val="7030A0"/>
                </a:solidFill>
              </a:rPr>
              <a:t>5/16/2026 10:59:48 PM</a:t>
            </a:fld>
            <a:endParaRPr lang="en-CA" b="1" dirty="0">
              <a:solidFill>
                <a:srgbClr val="7030A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7" name="Google Shape;337;p34"/>
          <p:cNvSpPr txBox="1"/>
          <p:nvPr/>
        </p:nvSpPr>
        <p:spPr>
          <a:xfrm>
            <a:off x="571500" y="1344172"/>
            <a:ext cx="4010228"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chemeClr val="tx1">
                    <a:lumMod val="95000"/>
                    <a:lumOff val="5000"/>
                  </a:schemeClr>
                </a:solidFill>
                <a:latin typeface="+mj-lt"/>
                <a:ea typeface="Poppins Medium"/>
                <a:cs typeface="Poppins Medium"/>
                <a:sym typeface="Poppins Medium"/>
              </a:rPr>
              <a:t>Baseline Synthetic Immunity</a:t>
            </a:r>
            <a:endParaRPr sz="2400" b="1" dirty="0">
              <a:solidFill>
                <a:schemeClr val="tx1">
                  <a:lumMod val="95000"/>
                  <a:lumOff val="5000"/>
                </a:schemeClr>
              </a:solidFill>
              <a:latin typeface="+mj-lt"/>
            </a:endParaRPr>
          </a:p>
        </p:txBody>
      </p:sp>
      <p:sp>
        <p:nvSpPr>
          <p:cNvPr id="338" name="Google Shape;338;p34"/>
          <p:cNvSpPr txBox="1"/>
          <p:nvPr/>
        </p:nvSpPr>
        <p:spPr>
          <a:xfrm>
            <a:off x="571500" y="1818605"/>
            <a:ext cx="4596116" cy="9971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chemeClr val="tx1">
                    <a:lumMod val="85000"/>
                    <a:lumOff val="15000"/>
                  </a:schemeClr>
                </a:solidFill>
                <a:latin typeface="Inter"/>
                <a:ea typeface="Inter"/>
                <a:cs typeface="Inter"/>
                <a:sym typeface="Inter"/>
              </a:rPr>
              <a:t>Evaluated on </a:t>
            </a:r>
            <a:r>
              <a:rPr lang="en-US" sz="1350" b="1" i="0" u="none" strike="noStrike" cap="none" dirty="0">
                <a:solidFill>
                  <a:schemeClr val="tx1">
                    <a:lumMod val="85000"/>
                    <a:lumOff val="15000"/>
                  </a:schemeClr>
                </a:solidFill>
                <a:latin typeface="Inter"/>
                <a:ea typeface="Inter"/>
                <a:cs typeface="Inter"/>
                <a:sym typeface="Inter"/>
              </a:rPr>
              <a:t>128×2</a:t>
            </a:r>
            <a:r>
              <a:rPr lang="en-US" sz="1350" b="0" i="0" u="none" strike="noStrike" cap="none" dirty="0">
                <a:solidFill>
                  <a:schemeClr val="tx1">
                    <a:lumMod val="85000"/>
                    <a:lumOff val="15000"/>
                  </a:schemeClr>
                </a:solidFill>
                <a:latin typeface="Inter"/>
                <a:ea typeface="Inter"/>
                <a:cs typeface="Inter"/>
                <a:sym typeface="Inter"/>
              </a:rPr>
              <a:t> I/Q samples with </a:t>
            </a:r>
            <a:r>
              <a:rPr lang="en-US" sz="1350" b="1" i="0" u="none" strike="noStrike" cap="none" dirty="0">
                <a:solidFill>
                  <a:schemeClr val="tx1">
                    <a:lumMod val="85000"/>
                    <a:lumOff val="15000"/>
                  </a:schemeClr>
                </a:solidFill>
                <a:latin typeface="Inter"/>
                <a:ea typeface="Inter"/>
                <a:cs typeface="Inter"/>
                <a:sym typeface="Inter"/>
              </a:rPr>
              <a:t>size</a:t>
            </a:r>
            <a:r>
              <a:rPr lang="en-US" sz="1350" b="0" i="0" u="none" strike="noStrike" cap="none" dirty="0">
                <a:solidFill>
                  <a:schemeClr val="tx1">
                    <a:lumMod val="85000"/>
                    <a:lumOff val="15000"/>
                  </a:schemeClr>
                </a:solidFill>
                <a:latin typeface="Inter"/>
                <a:ea typeface="Inter"/>
                <a:cs typeface="Inter"/>
                <a:sym typeface="Inter"/>
              </a:rPr>
              <a:t> </a:t>
            </a:r>
            <a:r>
              <a:rPr lang="en-US" sz="1350" b="1" i="0" u="none" strike="noStrike" cap="none" dirty="0">
                <a:solidFill>
                  <a:schemeClr val="tx1">
                    <a:lumMod val="85000"/>
                    <a:lumOff val="15000"/>
                  </a:schemeClr>
                </a:solidFill>
                <a:latin typeface="Inter"/>
                <a:ea typeface="Inter"/>
                <a:cs typeface="Inter"/>
                <a:sym typeface="Inter"/>
              </a:rPr>
              <a:t>1,200,000</a:t>
            </a:r>
            <a:r>
              <a:rPr lang="en-US" sz="1350" b="0" i="0" u="none" strike="noStrike" cap="none" dirty="0">
                <a:solidFill>
                  <a:schemeClr val="tx1">
                    <a:lumMod val="85000"/>
                    <a:lumOff val="15000"/>
                  </a:schemeClr>
                </a:solidFill>
                <a:latin typeface="Inter"/>
                <a:ea typeface="Inter"/>
                <a:cs typeface="Inter"/>
                <a:sym typeface="Inter"/>
              </a:rPr>
              <a:t> over a </a:t>
            </a:r>
            <a:r>
              <a:rPr lang="en-US" sz="1350" b="1" i="0" u="none" strike="noStrike" cap="none" dirty="0">
                <a:solidFill>
                  <a:schemeClr val="tx1">
                    <a:lumMod val="85000"/>
                    <a:lumOff val="15000"/>
                  </a:schemeClr>
                </a:solidFill>
                <a:latin typeface="Inter"/>
                <a:ea typeface="Inter"/>
                <a:cs typeface="Inter"/>
                <a:sym typeface="Inter"/>
              </a:rPr>
              <a:t>SNR Range (-20dB to 18dB) </a:t>
            </a:r>
            <a:r>
              <a:rPr lang="en-US" sz="1350" b="0" i="0" u="none" strike="noStrike" cap="none" dirty="0">
                <a:solidFill>
                  <a:schemeClr val="tx1">
                    <a:lumMod val="85000"/>
                    <a:lumOff val="15000"/>
                  </a:schemeClr>
                </a:solidFill>
                <a:latin typeface="Inter"/>
                <a:ea typeface="Inter"/>
                <a:cs typeface="Inter"/>
                <a:sym typeface="Inter"/>
              </a:rPr>
              <a:t>against our Complex RF Background Simulator.</a:t>
            </a:r>
            <a:endParaRPr dirty="0">
              <a:solidFill>
                <a:schemeClr val="tx1">
                  <a:lumMod val="85000"/>
                  <a:lumOff val="15000"/>
                </a:schemeClr>
              </a:solidFill>
            </a:endParaRPr>
          </a:p>
        </p:txBody>
      </p:sp>
      <p:sp>
        <p:nvSpPr>
          <p:cNvPr id="339" name="Google Shape;339;p34"/>
          <p:cNvSpPr txBox="1"/>
          <p:nvPr/>
        </p:nvSpPr>
        <p:spPr>
          <a:xfrm>
            <a:off x="857250" y="3044279"/>
            <a:ext cx="4596116"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chemeClr val="tx1">
                    <a:lumMod val="85000"/>
                    <a:lumOff val="15000"/>
                  </a:schemeClr>
                </a:solidFill>
                <a:latin typeface="Inter"/>
                <a:ea typeface="Inter"/>
                <a:cs typeface="Inter"/>
                <a:sym typeface="Inter"/>
              </a:rPr>
              <a:t>Low-SNR Resilience:</a:t>
            </a:r>
            <a:r>
              <a:rPr lang="en-US" sz="1350" b="0" i="0" u="none" strike="noStrike" cap="none" dirty="0">
                <a:solidFill>
                  <a:schemeClr val="tx1">
                    <a:lumMod val="85000"/>
                    <a:lumOff val="15000"/>
                  </a:schemeClr>
                </a:solidFill>
                <a:latin typeface="Inter"/>
                <a:ea typeface="Inter"/>
                <a:cs typeface="Inter"/>
                <a:sym typeface="Inter"/>
              </a:rPr>
              <a:t> LSTM achieves ~90% accuracy and &gt;80% Probability of Detection (P</a:t>
            </a:r>
            <a:r>
              <a:rPr lang="en-US" sz="1050" b="0" i="0" u="none" strike="noStrike" cap="none" dirty="0">
                <a:solidFill>
                  <a:schemeClr val="tx1">
                    <a:lumMod val="85000"/>
                    <a:lumOff val="15000"/>
                  </a:schemeClr>
                </a:solidFill>
                <a:latin typeface="Inter"/>
                <a:ea typeface="Inter"/>
                <a:cs typeface="Inter"/>
                <a:sym typeface="Inter"/>
              </a:rPr>
              <a:t>d</a:t>
            </a:r>
            <a:r>
              <a:rPr lang="en-US" sz="1350" b="0" i="0" u="none" strike="noStrike" cap="none" dirty="0">
                <a:solidFill>
                  <a:schemeClr val="tx1">
                    <a:lumMod val="85000"/>
                    <a:lumOff val="15000"/>
                  </a:schemeClr>
                </a:solidFill>
                <a:latin typeface="Inter"/>
                <a:ea typeface="Inter"/>
                <a:cs typeface="Inter"/>
                <a:sym typeface="Inter"/>
              </a:rPr>
              <a:t>) below -10dB</a:t>
            </a:r>
            <a:r>
              <a:rPr lang="en-US" sz="1350" dirty="0">
                <a:solidFill>
                  <a:schemeClr val="tx1">
                    <a:lumMod val="85000"/>
                    <a:lumOff val="15000"/>
                  </a:schemeClr>
                </a:solidFill>
                <a:latin typeface="Inter"/>
                <a:ea typeface="Inter"/>
                <a:cs typeface="Inter"/>
                <a:sym typeface="Inter"/>
              </a:rPr>
              <a:t>.</a:t>
            </a:r>
            <a:endParaRPr dirty="0">
              <a:solidFill>
                <a:schemeClr val="tx1">
                  <a:lumMod val="85000"/>
                  <a:lumOff val="15000"/>
                </a:schemeClr>
              </a:solidFill>
            </a:endParaRPr>
          </a:p>
        </p:txBody>
      </p:sp>
      <p:sp>
        <p:nvSpPr>
          <p:cNvPr id="340" name="Google Shape;340;p34"/>
          <p:cNvSpPr txBox="1"/>
          <p:nvPr/>
        </p:nvSpPr>
        <p:spPr>
          <a:xfrm>
            <a:off x="857250" y="3783359"/>
            <a:ext cx="4310366"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chemeClr val="tx1">
                    <a:lumMod val="85000"/>
                    <a:lumOff val="15000"/>
                  </a:schemeClr>
                </a:solidFill>
                <a:latin typeface="Inter"/>
                <a:ea typeface="Inter"/>
                <a:cs typeface="Inter"/>
                <a:sym typeface="Inter"/>
              </a:rPr>
              <a:t>Precision Leaders:</a:t>
            </a:r>
            <a:r>
              <a:rPr lang="en-US" sz="1350" b="0" i="0" u="none" strike="noStrike" cap="none" dirty="0">
                <a:solidFill>
                  <a:schemeClr val="tx1">
                    <a:lumMod val="85000"/>
                    <a:lumOff val="15000"/>
                  </a:schemeClr>
                </a:solidFill>
                <a:latin typeface="Inter"/>
                <a:ea typeface="Inter"/>
                <a:cs typeface="Inter"/>
                <a:sym typeface="Inter"/>
              </a:rPr>
              <a:t> PETCGDNN and CNN maintain superior precision across the entire spectrum.</a:t>
            </a:r>
            <a:endParaRPr dirty="0">
              <a:solidFill>
                <a:schemeClr val="tx1">
                  <a:lumMod val="85000"/>
                  <a:lumOff val="15000"/>
                </a:schemeClr>
              </a:solidFill>
            </a:endParaRPr>
          </a:p>
        </p:txBody>
      </p:sp>
      <p:sp>
        <p:nvSpPr>
          <p:cNvPr id="341" name="Google Shape;341;p34"/>
          <p:cNvSpPr txBox="1"/>
          <p:nvPr/>
        </p:nvSpPr>
        <p:spPr>
          <a:xfrm>
            <a:off x="857250" y="4522440"/>
            <a:ext cx="4310366"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chemeClr val="tx1">
                    <a:lumMod val="85000"/>
                    <a:lumOff val="15000"/>
                  </a:schemeClr>
                </a:solidFill>
                <a:latin typeface="Inter"/>
                <a:ea typeface="Inter"/>
                <a:cs typeface="Inter"/>
                <a:sym typeface="Inter"/>
              </a:rPr>
              <a:t>Feature Isolation:</a:t>
            </a:r>
            <a:r>
              <a:rPr lang="en-US" sz="1350" b="0" i="0" u="none" strike="noStrike" cap="none" dirty="0">
                <a:solidFill>
                  <a:schemeClr val="tx1">
                    <a:lumMod val="85000"/>
                    <a:lumOff val="15000"/>
                  </a:schemeClr>
                </a:solidFill>
                <a:latin typeface="Inter"/>
                <a:ea typeface="Inter"/>
                <a:cs typeface="Inter"/>
                <a:sym typeface="Inter"/>
              </a:rPr>
              <a:t> Effectively isolates short-burst modulation features from NBI and impulsive spikes.</a:t>
            </a:r>
            <a:endParaRPr dirty="0">
              <a:solidFill>
                <a:schemeClr val="tx1">
                  <a:lumMod val="85000"/>
                  <a:lumOff val="15000"/>
                </a:schemeClr>
              </a:solidFill>
            </a:endParaRPr>
          </a:p>
        </p:txBody>
      </p:sp>
      <p:sp>
        <p:nvSpPr>
          <p:cNvPr id="342" name="Google Shape;342;p34"/>
          <p:cNvSpPr txBox="1"/>
          <p:nvPr/>
        </p:nvSpPr>
        <p:spPr>
          <a:xfrm>
            <a:off x="857250" y="5261520"/>
            <a:ext cx="4677788"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chemeClr val="tx1">
                    <a:lumMod val="85000"/>
                    <a:lumOff val="15000"/>
                  </a:schemeClr>
                </a:solidFill>
                <a:latin typeface="Inter"/>
                <a:ea typeface="Inter"/>
                <a:cs typeface="Inter"/>
                <a:sym typeface="Inter"/>
              </a:rPr>
              <a:t>AUC Stability:</a:t>
            </a:r>
            <a:r>
              <a:rPr lang="en-US" sz="1350" b="0" i="0" u="none" strike="noStrike" cap="none" dirty="0">
                <a:solidFill>
                  <a:schemeClr val="tx1">
                    <a:lumMod val="85000"/>
                    <a:lumOff val="15000"/>
                  </a:schemeClr>
                </a:solidFill>
                <a:latin typeface="Inter"/>
                <a:ea typeface="Inter"/>
                <a:cs typeface="Inter"/>
                <a:sym typeface="Inter"/>
              </a:rPr>
              <a:t> Area Under the Curve (AUC) remains exceptionally high (&gt;0.97) even in negative SNR regimes.</a:t>
            </a:r>
            <a:endParaRPr dirty="0">
              <a:solidFill>
                <a:schemeClr val="tx1">
                  <a:lumMod val="85000"/>
                  <a:lumOff val="15000"/>
                </a:schemeClr>
              </a:solidFill>
            </a:endParaRPr>
          </a:p>
        </p:txBody>
      </p:sp>
      <p:sp>
        <p:nvSpPr>
          <p:cNvPr id="345" name="Google Shape;345;p34"/>
          <p:cNvSpPr txBox="1"/>
          <p:nvPr/>
        </p:nvSpPr>
        <p:spPr>
          <a:xfrm>
            <a:off x="473982" y="629505"/>
            <a:ext cx="5362651"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dirty="0">
                <a:solidFill>
                  <a:schemeClr val="accent1">
                    <a:lumMod val="75000"/>
                  </a:schemeClr>
                </a:solidFill>
                <a:latin typeface="+mj-lt"/>
                <a:ea typeface="Poppins Medium"/>
                <a:cs typeface="Poppins Medium"/>
                <a:sym typeface="Poppins Medium"/>
              </a:rPr>
              <a:t>Results: RML2016b Dataset</a:t>
            </a:r>
            <a:endParaRPr sz="3200" b="1" dirty="0">
              <a:solidFill>
                <a:schemeClr val="accent1">
                  <a:lumMod val="75000"/>
                </a:schemeClr>
              </a:solidFill>
              <a:latin typeface="+mj-lt"/>
            </a:endParaRPr>
          </a:p>
        </p:txBody>
      </p:sp>
      <p:pic>
        <p:nvPicPr>
          <p:cNvPr id="346" name="Google Shape;346;p34" descr="image.png"/>
          <p:cNvPicPr preferRelativeResize="0"/>
          <p:nvPr/>
        </p:nvPicPr>
        <p:blipFill rotWithShape="1">
          <a:blip r:embed="rId3">
            <a:alphaModFix/>
          </a:blip>
          <a:srcRect/>
          <a:stretch/>
        </p:blipFill>
        <p:spPr>
          <a:xfrm>
            <a:off x="564469" y="3164460"/>
            <a:ext cx="104775" cy="180975"/>
          </a:xfrm>
          <a:prstGeom prst="rect">
            <a:avLst/>
          </a:prstGeom>
          <a:noFill/>
          <a:ln>
            <a:noFill/>
          </a:ln>
        </p:spPr>
      </p:pic>
      <p:pic>
        <p:nvPicPr>
          <p:cNvPr id="347" name="Google Shape;347;p34" descr="image.png"/>
          <p:cNvPicPr preferRelativeResize="0"/>
          <p:nvPr/>
        </p:nvPicPr>
        <p:blipFill rotWithShape="1">
          <a:blip r:embed="rId3">
            <a:alphaModFix/>
          </a:blip>
          <a:srcRect/>
          <a:stretch/>
        </p:blipFill>
        <p:spPr>
          <a:xfrm>
            <a:off x="564469" y="3884115"/>
            <a:ext cx="104775" cy="180975"/>
          </a:xfrm>
          <a:prstGeom prst="rect">
            <a:avLst/>
          </a:prstGeom>
          <a:noFill/>
          <a:ln>
            <a:noFill/>
          </a:ln>
        </p:spPr>
      </p:pic>
      <p:pic>
        <p:nvPicPr>
          <p:cNvPr id="348" name="Google Shape;348;p34" descr="image.png"/>
          <p:cNvPicPr preferRelativeResize="0"/>
          <p:nvPr/>
        </p:nvPicPr>
        <p:blipFill rotWithShape="1">
          <a:blip r:embed="rId3">
            <a:alphaModFix/>
          </a:blip>
          <a:srcRect/>
          <a:stretch/>
        </p:blipFill>
        <p:spPr>
          <a:xfrm>
            <a:off x="571500" y="4611615"/>
            <a:ext cx="104775" cy="180975"/>
          </a:xfrm>
          <a:prstGeom prst="rect">
            <a:avLst/>
          </a:prstGeom>
          <a:noFill/>
          <a:ln>
            <a:noFill/>
          </a:ln>
        </p:spPr>
      </p:pic>
      <p:pic>
        <p:nvPicPr>
          <p:cNvPr id="349" name="Google Shape;349;p34" descr="image.png"/>
          <p:cNvPicPr preferRelativeResize="0"/>
          <p:nvPr/>
        </p:nvPicPr>
        <p:blipFill rotWithShape="1">
          <a:blip r:embed="rId3">
            <a:alphaModFix/>
          </a:blip>
          <a:srcRect/>
          <a:stretch/>
        </p:blipFill>
        <p:spPr>
          <a:xfrm>
            <a:off x="571500" y="5339115"/>
            <a:ext cx="104775" cy="180975"/>
          </a:xfrm>
          <a:prstGeom prst="rect">
            <a:avLst/>
          </a:prstGeom>
          <a:noFill/>
          <a:ln>
            <a:noFill/>
          </a:ln>
        </p:spPr>
      </p:pic>
      <p:sp>
        <p:nvSpPr>
          <p:cNvPr id="2" name="Slide Number Placeholder 1">
            <a:extLst>
              <a:ext uri="{FF2B5EF4-FFF2-40B4-BE49-F238E27FC236}">
                <a16:creationId xmlns:a16="http://schemas.microsoft.com/office/drawing/2014/main" id="{9506777E-57CC-1D85-0279-8DC2BE172D27}"/>
              </a:ext>
            </a:extLst>
          </p:cNvPr>
          <p:cNvSpPr>
            <a:spLocks noGrp="1"/>
          </p:cNvSpPr>
          <p:nvPr>
            <p:ph type="sldNum" sz="quarter" idx="12"/>
          </p:nvPr>
        </p:nvSpPr>
        <p:spPr>
          <a:xfrm>
            <a:off x="3615088" y="6492874"/>
            <a:ext cx="2133600" cy="365125"/>
          </a:xfrm>
        </p:spPr>
        <p:txBody>
          <a:bodyPr/>
          <a:lstStyle/>
          <a:p>
            <a:pPr marL="0" lvl="0" indent="0" algn="r" rtl="0">
              <a:spcBef>
                <a:spcPts val="0"/>
              </a:spcBef>
              <a:spcAft>
                <a:spcPts val="0"/>
              </a:spcAft>
              <a:buNone/>
            </a:pPr>
            <a:fld id="{00000000-1234-1234-1234-123412341234}" type="slidenum">
              <a:rPr lang="en-US" b="1" smtClean="0">
                <a:solidFill>
                  <a:schemeClr val="tx1">
                    <a:lumMod val="85000"/>
                    <a:lumOff val="15000"/>
                  </a:schemeClr>
                </a:solidFill>
              </a:rPr>
              <a:t>15</a:t>
            </a:fld>
            <a:endParaRPr lang="en-US" b="1" dirty="0">
              <a:solidFill>
                <a:schemeClr val="tx1">
                  <a:lumMod val="85000"/>
                  <a:lumOff val="15000"/>
                </a:schemeClr>
              </a:solidFill>
            </a:endParaRPr>
          </a:p>
        </p:txBody>
      </p:sp>
      <p:pic>
        <p:nvPicPr>
          <p:cNvPr id="4" name="Picture 3">
            <a:extLst>
              <a:ext uri="{FF2B5EF4-FFF2-40B4-BE49-F238E27FC236}">
                <a16:creationId xmlns:a16="http://schemas.microsoft.com/office/drawing/2014/main" id="{903BA16A-211D-EBCA-913F-C7486554A85D}"/>
              </a:ext>
            </a:extLst>
          </p:cNvPr>
          <p:cNvPicPr>
            <a:picLocks noChangeAspect="1"/>
          </p:cNvPicPr>
          <p:nvPr/>
        </p:nvPicPr>
        <p:blipFill>
          <a:blip r:embed="rId4"/>
          <a:stretch>
            <a:fillRect/>
          </a:stretch>
        </p:blipFill>
        <p:spPr>
          <a:xfrm>
            <a:off x="5749047" y="0"/>
            <a:ext cx="6442953" cy="6857999"/>
          </a:xfrm>
          <a:prstGeom prst="rect">
            <a:avLst/>
          </a:prstGeom>
        </p:spPr>
      </p:pic>
      <p:pic>
        <p:nvPicPr>
          <p:cNvPr id="3" name="Picture 2">
            <a:extLst>
              <a:ext uri="{FF2B5EF4-FFF2-40B4-BE49-F238E27FC236}">
                <a16:creationId xmlns:a16="http://schemas.microsoft.com/office/drawing/2014/main" id="{ED181105-32F7-8201-C862-77A74B11E791}"/>
              </a:ext>
            </a:extLst>
          </p:cNvPr>
          <p:cNvPicPr>
            <a:picLocks noChangeAspect="1"/>
          </p:cNvPicPr>
          <p:nvPr/>
        </p:nvPicPr>
        <p:blipFill>
          <a:blip r:embed="rId5"/>
          <a:stretch>
            <a:fillRect/>
          </a:stretch>
        </p:blipFill>
        <p:spPr>
          <a:xfrm>
            <a:off x="76204" y="5868185"/>
            <a:ext cx="903221" cy="903221"/>
          </a:xfrm>
          <a:prstGeom prst="rect">
            <a:avLst/>
          </a:prstGeom>
        </p:spPr>
      </p:pic>
      <p:sp>
        <p:nvSpPr>
          <p:cNvPr id="5" name="Date Placeholder 4">
            <a:extLst>
              <a:ext uri="{FF2B5EF4-FFF2-40B4-BE49-F238E27FC236}">
                <a16:creationId xmlns:a16="http://schemas.microsoft.com/office/drawing/2014/main" id="{E49F5B7D-0F09-D0D0-886E-128CBAD54DA2}"/>
              </a:ext>
            </a:extLst>
          </p:cNvPr>
          <p:cNvSpPr>
            <a:spLocks noGrp="1"/>
          </p:cNvSpPr>
          <p:nvPr>
            <p:ph type="dt" sz="half" idx="10"/>
          </p:nvPr>
        </p:nvSpPr>
        <p:spPr>
          <a:xfrm>
            <a:off x="3614729" y="6484641"/>
            <a:ext cx="2743200" cy="365125"/>
          </a:xfrm>
        </p:spPr>
        <p:txBody>
          <a:bodyPr/>
          <a:lstStyle/>
          <a:p>
            <a:fld id="{B829079F-FD38-49DF-AD72-4EFF4668E45B}" type="datetime9">
              <a:rPr lang="en-US" b="1" smtClean="0">
                <a:solidFill>
                  <a:srgbClr val="7030A0"/>
                </a:solidFill>
              </a:rPr>
              <a:t>5/19/2026 3:06:41 AM</a:t>
            </a:fld>
            <a:endParaRPr lang="en-CA" b="1" dirty="0">
              <a:solidFill>
                <a:srgbClr val="7030A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5" name="Google Shape;355;p35"/>
          <p:cNvSpPr txBox="1"/>
          <p:nvPr/>
        </p:nvSpPr>
        <p:spPr>
          <a:xfrm>
            <a:off x="430351" y="324702"/>
            <a:ext cx="5177547"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dirty="0">
                <a:solidFill>
                  <a:schemeClr val="accent1">
                    <a:lumMod val="75000"/>
                  </a:schemeClr>
                </a:solidFill>
                <a:latin typeface="+mj-lt"/>
                <a:ea typeface="Poppins Medium"/>
                <a:cs typeface="Poppins Medium"/>
                <a:sym typeface="Poppins Medium"/>
              </a:rPr>
              <a:t>Results: RML2018a Dataset</a:t>
            </a:r>
            <a:endParaRPr sz="3200" b="1" dirty="0">
              <a:solidFill>
                <a:schemeClr val="accent1">
                  <a:lumMod val="75000"/>
                </a:schemeClr>
              </a:solidFill>
              <a:latin typeface="+mj-lt"/>
            </a:endParaRPr>
          </a:p>
        </p:txBody>
      </p:sp>
      <p:sp>
        <p:nvSpPr>
          <p:cNvPr id="357" name="Google Shape;357;p35"/>
          <p:cNvSpPr txBox="1"/>
          <p:nvPr/>
        </p:nvSpPr>
        <p:spPr>
          <a:xfrm>
            <a:off x="571927" y="897788"/>
            <a:ext cx="3815674"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chemeClr val="tx1">
                    <a:lumMod val="95000"/>
                    <a:lumOff val="5000"/>
                  </a:schemeClr>
                </a:solidFill>
                <a:latin typeface="+mj-lt"/>
                <a:ea typeface="Poppins Medium"/>
                <a:cs typeface="Poppins Medium"/>
                <a:sym typeface="Poppins Medium"/>
              </a:rPr>
              <a:t>Impaired Channel Recovery</a:t>
            </a:r>
            <a:endParaRPr sz="2400" b="1" dirty="0">
              <a:solidFill>
                <a:schemeClr val="tx1">
                  <a:lumMod val="95000"/>
                  <a:lumOff val="5000"/>
                </a:schemeClr>
              </a:solidFill>
              <a:latin typeface="+mj-lt"/>
            </a:endParaRPr>
          </a:p>
        </p:txBody>
      </p:sp>
      <p:sp>
        <p:nvSpPr>
          <p:cNvPr id="358" name="Google Shape;358;p35"/>
          <p:cNvSpPr txBox="1"/>
          <p:nvPr/>
        </p:nvSpPr>
        <p:spPr>
          <a:xfrm>
            <a:off x="571926" y="1268162"/>
            <a:ext cx="5364749" cy="9971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chemeClr val="tx1">
                    <a:lumMod val="95000"/>
                    <a:lumOff val="5000"/>
                  </a:schemeClr>
                </a:solidFill>
                <a:latin typeface="Inter"/>
                <a:ea typeface="Inter"/>
                <a:cs typeface="Inter"/>
                <a:sym typeface="Inter"/>
              </a:rPr>
              <a:t>Testing realistic impairments (multipath fading, CFO, hardware distortions) over longer </a:t>
            </a:r>
            <a:r>
              <a:rPr lang="en-US" sz="1350" b="1" i="0" u="none" strike="noStrike" cap="none" dirty="0">
                <a:solidFill>
                  <a:schemeClr val="tx1">
                    <a:lumMod val="95000"/>
                    <a:lumOff val="5000"/>
                  </a:schemeClr>
                </a:solidFill>
                <a:latin typeface="Inter"/>
                <a:ea typeface="Inter"/>
                <a:cs typeface="Inter"/>
                <a:sym typeface="Inter"/>
              </a:rPr>
              <a:t>1024×2 I/Q samples with size 2,555,904 </a:t>
            </a:r>
            <a:r>
              <a:rPr lang="en-US" sz="1350" i="0" u="none" strike="noStrike" cap="none" dirty="0">
                <a:solidFill>
                  <a:schemeClr val="tx1">
                    <a:lumMod val="95000"/>
                    <a:lumOff val="5000"/>
                  </a:schemeClr>
                </a:solidFill>
                <a:latin typeface="Inter"/>
                <a:ea typeface="Inter"/>
                <a:cs typeface="Inter"/>
                <a:sym typeface="Inter"/>
              </a:rPr>
              <a:t>over a </a:t>
            </a:r>
            <a:r>
              <a:rPr lang="en-US" sz="1350" b="1" i="0" u="none" strike="noStrike" cap="none" dirty="0">
                <a:solidFill>
                  <a:schemeClr val="tx1">
                    <a:lumMod val="95000"/>
                    <a:lumOff val="5000"/>
                  </a:schemeClr>
                </a:solidFill>
                <a:latin typeface="Inter"/>
                <a:ea typeface="Inter"/>
                <a:cs typeface="Inter"/>
                <a:sym typeface="Inter"/>
              </a:rPr>
              <a:t>SNR Range (-20dB to 30dB) </a:t>
            </a:r>
            <a:r>
              <a:rPr lang="en-US" sz="1350" b="0" i="0" u="none" strike="noStrike" cap="none" dirty="0">
                <a:solidFill>
                  <a:schemeClr val="tx1">
                    <a:lumMod val="95000"/>
                    <a:lumOff val="5000"/>
                  </a:schemeClr>
                </a:solidFill>
                <a:latin typeface="Inter"/>
                <a:ea typeface="Inter"/>
                <a:cs typeface="Inter"/>
                <a:sym typeface="Inter"/>
              </a:rPr>
              <a:t> observation windows.</a:t>
            </a:r>
            <a:endParaRPr dirty="0">
              <a:solidFill>
                <a:schemeClr val="tx1">
                  <a:lumMod val="95000"/>
                  <a:lumOff val="5000"/>
                </a:schemeClr>
              </a:solidFill>
            </a:endParaRPr>
          </a:p>
        </p:txBody>
      </p:sp>
      <p:sp>
        <p:nvSpPr>
          <p:cNvPr id="359" name="Google Shape;359;p35"/>
          <p:cNvSpPr txBox="1"/>
          <p:nvPr/>
        </p:nvSpPr>
        <p:spPr>
          <a:xfrm>
            <a:off x="857250" y="3561397"/>
            <a:ext cx="954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a:solidFill>
                <a:schemeClr val="tx1">
                  <a:lumMod val="95000"/>
                  <a:lumOff val="5000"/>
                </a:schemeClr>
              </a:solidFill>
            </a:endParaRPr>
          </a:p>
        </p:txBody>
      </p:sp>
      <p:sp>
        <p:nvSpPr>
          <p:cNvPr id="360" name="Google Shape;360;p35"/>
          <p:cNvSpPr txBox="1"/>
          <p:nvPr/>
        </p:nvSpPr>
        <p:spPr>
          <a:xfrm>
            <a:off x="314600" y="2256619"/>
            <a:ext cx="5409048" cy="3576364"/>
          </a:xfrm>
          <a:prstGeom prst="rect">
            <a:avLst/>
          </a:prstGeom>
          <a:noFill/>
          <a:ln>
            <a:noFill/>
          </a:ln>
        </p:spPr>
        <p:txBody>
          <a:bodyPr spcFirstLastPara="1" wrap="square" lIns="95250" tIns="0" rIns="0" bIns="0" anchor="t" anchorCtr="0">
            <a:spAutoFit/>
          </a:bodyPr>
          <a:lstStyle/>
          <a:p>
            <a:pPr marL="457200" lvl="0" indent="-317500" algn="l" rtl="0">
              <a:lnSpc>
                <a:spcPct val="115000"/>
              </a:lnSpc>
              <a:spcBef>
                <a:spcPts val="1200"/>
              </a:spcBef>
              <a:spcAft>
                <a:spcPts val="0"/>
              </a:spcAft>
              <a:buClr>
                <a:srgbClr val="00FF00"/>
              </a:buClr>
              <a:buSzPts val="1400"/>
              <a:buFont typeface="Times New Roman"/>
              <a:buChar char="➢"/>
            </a:pPr>
            <a:r>
              <a:rPr lang="en-US" sz="1600" b="1" dirty="0">
                <a:solidFill>
                  <a:schemeClr val="tx1">
                    <a:lumMod val="95000"/>
                    <a:lumOff val="5000"/>
                  </a:schemeClr>
                </a:solidFill>
                <a:latin typeface="Inter"/>
                <a:ea typeface="Inter"/>
                <a:cs typeface="Inter"/>
                <a:sym typeface="Inter"/>
              </a:rPr>
              <a:t>Standard Model Breakdown: </a:t>
            </a:r>
            <a:r>
              <a:rPr lang="en-US" sz="1600" dirty="0">
                <a:solidFill>
                  <a:schemeClr val="tx1">
                    <a:lumMod val="95000"/>
                    <a:lumOff val="5000"/>
                  </a:schemeClr>
                </a:solidFill>
                <a:latin typeface="Inter"/>
                <a:ea typeface="Inter"/>
                <a:cs typeface="Inter"/>
                <a:sym typeface="Inter"/>
              </a:rPr>
              <a:t>At a severe -20 dB SNR, baseline LSTM exhibits a near 50% accuracy drop with only a 2.5% Probability of Detection (Pd).</a:t>
            </a:r>
            <a:endParaRPr sz="1600" dirty="0">
              <a:solidFill>
                <a:schemeClr val="tx1">
                  <a:lumMod val="95000"/>
                  <a:lumOff val="5000"/>
                </a:schemeClr>
              </a:solidFill>
              <a:latin typeface="Times New Roman"/>
              <a:ea typeface="Times New Roman"/>
              <a:cs typeface="Times New Roman"/>
              <a:sym typeface="Times New Roman"/>
            </a:endParaRPr>
          </a:p>
          <a:p>
            <a:pPr marL="457200" lvl="0" indent="-317500" algn="l" rtl="0">
              <a:lnSpc>
                <a:spcPct val="115000"/>
              </a:lnSpc>
              <a:spcBef>
                <a:spcPts val="1200"/>
              </a:spcBef>
              <a:spcAft>
                <a:spcPts val="0"/>
              </a:spcAft>
              <a:buClr>
                <a:srgbClr val="00FF00"/>
              </a:buClr>
              <a:buSzPts val="1400"/>
              <a:buFont typeface="Times New Roman"/>
              <a:buChar char="➢"/>
            </a:pPr>
            <a:r>
              <a:rPr lang="en-US" sz="1600" b="1" dirty="0">
                <a:solidFill>
                  <a:schemeClr val="tx1">
                    <a:lumMod val="95000"/>
                    <a:lumOff val="5000"/>
                  </a:schemeClr>
                </a:solidFill>
                <a:latin typeface="Inter"/>
                <a:ea typeface="Inter"/>
                <a:cs typeface="Inter"/>
                <a:sym typeface="Inter"/>
              </a:rPr>
              <a:t>PETCGDNN Recovery: </a:t>
            </a:r>
            <a:r>
              <a:rPr lang="en-US" sz="1600" dirty="0">
                <a:solidFill>
                  <a:schemeClr val="tx1">
                    <a:lumMod val="95000"/>
                    <a:lumOff val="5000"/>
                  </a:schemeClr>
                </a:solidFill>
                <a:latin typeface="Inter"/>
                <a:ea typeface="Inter"/>
                <a:cs typeface="Inter"/>
                <a:sym typeface="Inter"/>
              </a:rPr>
              <a:t>Rebounds remarkably against multipath fading, achieving 100% Pd and &gt;98% accuracy as SNR approaches +6dB.</a:t>
            </a:r>
            <a:endParaRPr sz="1600" dirty="0">
              <a:solidFill>
                <a:schemeClr val="tx1">
                  <a:lumMod val="95000"/>
                  <a:lumOff val="5000"/>
                </a:schemeClr>
              </a:solidFill>
              <a:latin typeface="Times New Roman"/>
              <a:ea typeface="Times New Roman"/>
              <a:cs typeface="Times New Roman"/>
              <a:sym typeface="Times New Roman"/>
            </a:endParaRPr>
          </a:p>
          <a:p>
            <a:pPr marL="457200" lvl="0" indent="-317500" algn="l" rtl="0">
              <a:lnSpc>
                <a:spcPct val="115000"/>
              </a:lnSpc>
              <a:spcBef>
                <a:spcPts val="1200"/>
              </a:spcBef>
              <a:spcAft>
                <a:spcPts val="0"/>
              </a:spcAft>
              <a:buClr>
                <a:srgbClr val="00FF00"/>
              </a:buClr>
              <a:buSzPts val="1400"/>
              <a:buFont typeface="Times New Roman"/>
              <a:buChar char="➢"/>
            </a:pPr>
            <a:r>
              <a:rPr lang="en-US" sz="1600" b="1" dirty="0">
                <a:solidFill>
                  <a:schemeClr val="tx1">
                    <a:lumMod val="95000"/>
                    <a:lumOff val="5000"/>
                  </a:schemeClr>
                </a:solidFill>
                <a:latin typeface="Inter"/>
                <a:ea typeface="Inter"/>
                <a:cs typeface="Inter"/>
                <a:sym typeface="Inter"/>
              </a:rPr>
              <a:t>Spatial Feature Extraction: </a:t>
            </a:r>
            <a:r>
              <a:rPr lang="en-US" sz="1600" dirty="0">
                <a:solidFill>
                  <a:schemeClr val="tx1">
                    <a:lumMod val="95000"/>
                    <a:lumOff val="5000"/>
                  </a:schemeClr>
                </a:solidFill>
                <a:latin typeface="Inter"/>
                <a:ea typeface="Inter"/>
                <a:cs typeface="Inter"/>
                <a:sym typeface="Inter"/>
              </a:rPr>
              <a:t>CNN and hybrid layers proved critical here, mapping localized time-frequency distortions much more efficiently than purely sequential networks.</a:t>
            </a:r>
            <a:endParaRPr sz="1600" dirty="0">
              <a:solidFill>
                <a:schemeClr val="tx1">
                  <a:lumMod val="95000"/>
                  <a:lumOff val="5000"/>
                </a:schemeClr>
              </a:solidFill>
              <a:latin typeface="Inter"/>
              <a:ea typeface="Inter"/>
              <a:cs typeface="Inter"/>
              <a:sym typeface="Inter"/>
            </a:endParaRPr>
          </a:p>
        </p:txBody>
      </p:sp>
      <p:sp>
        <p:nvSpPr>
          <p:cNvPr id="361" name="Google Shape;361;p35"/>
          <p:cNvSpPr txBox="1"/>
          <p:nvPr/>
        </p:nvSpPr>
        <p:spPr>
          <a:xfrm>
            <a:off x="857250" y="4384268"/>
            <a:ext cx="954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a:solidFill>
                <a:schemeClr val="tx1">
                  <a:lumMod val="95000"/>
                  <a:lumOff val="5000"/>
                </a:schemeClr>
              </a:solidFill>
            </a:endParaRPr>
          </a:p>
        </p:txBody>
      </p:sp>
      <p:sp>
        <p:nvSpPr>
          <p:cNvPr id="362" name="Google Shape;362;p35"/>
          <p:cNvSpPr txBox="1"/>
          <p:nvPr/>
        </p:nvSpPr>
        <p:spPr>
          <a:xfrm>
            <a:off x="952500" y="4385220"/>
            <a:ext cx="4905300" cy="443198"/>
          </a:xfrm>
          <a:prstGeom prst="rect">
            <a:avLst/>
          </a:prstGeom>
          <a:noFill/>
          <a:ln>
            <a:noFill/>
          </a:ln>
        </p:spPr>
        <p:txBody>
          <a:bodyPr spcFirstLastPara="1" wrap="square" lIns="95250" tIns="0" rIns="0" bIns="0" anchor="t" anchorCtr="0">
            <a:spAutoFit/>
          </a:bodyPr>
          <a:lstStyle/>
          <a:p>
            <a:pPr marL="0" marR="0" lvl="0" indent="0" algn="l" rtl="0">
              <a:lnSpc>
                <a:spcPct val="160000"/>
              </a:lnSpc>
              <a:spcBef>
                <a:spcPts val="0"/>
              </a:spcBef>
              <a:spcAft>
                <a:spcPts val="0"/>
              </a:spcAft>
              <a:buNone/>
            </a:pPr>
            <a:endParaRPr>
              <a:solidFill>
                <a:schemeClr val="tx1">
                  <a:lumMod val="95000"/>
                  <a:lumOff val="5000"/>
                </a:schemeClr>
              </a:solidFill>
            </a:endParaRPr>
          </a:p>
        </p:txBody>
      </p:sp>
      <p:sp>
        <p:nvSpPr>
          <p:cNvPr id="2" name="Slide Number Placeholder 1">
            <a:extLst>
              <a:ext uri="{FF2B5EF4-FFF2-40B4-BE49-F238E27FC236}">
                <a16:creationId xmlns:a16="http://schemas.microsoft.com/office/drawing/2014/main" id="{89615DE7-C0A6-4DAC-A5FA-262AD521F636}"/>
              </a:ext>
            </a:extLst>
          </p:cNvPr>
          <p:cNvSpPr>
            <a:spLocks noGrp="1"/>
          </p:cNvSpPr>
          <p:nvPr>
            <p:ph type="sldNum" sz="quarter" idx="12"/>
          </p:nvPr>
        </p:nvSpPr>
        <p:spPr>
          <a:xfrm>
            <a:off x="3853462" y="6500249"/>
            <a:ext cx="2133600" cy="365125"/>
          </a:xfrm>
        </p:spPr>
        <p:txBody>
          <a:bodyPr/>
          <a:lstStyle/>
          <a:p>
            <a:pPr marL="0" lvl="0" indent="0" algn="r" rtl="0">
              <a:spcBef>
                <a:spcPts val="0"/>
              </a:spcBef>
              <a:spcAft>
                <a:spcPts val="0"/>
              </a:spcAft>
              <a:buNone/>
            </a:pPr>
            <a:fld id="{00000000-1234-1234-1234-123412341234}" type="slidenum">
              <a:rPr lang="en-US" b="1" smtClean="0">
                <a:solidFill>
                  <a:schemeClr val="tx1">
                    <a:lumMod val="95000"/>
                    <a:lumOff val="5000"/>
                  </a:schemeClr>
                </a:solidFill>
              </a:rPr>
              <a:t>16</a:t>
            </a:fld>
            <a:endParaRPr lang="en-US" b="1" dirty="0">
              <a:solidFill>
                <a:schemeClr val="tx1">
                  <a:lumMod val="95000"/>
                  <a:lumOff val="5000"/>
                </a:schemeClr>
              </a:solidFill>
            </a:endParaRPr>
          </a:p>
        </p:txBody>
      </p:sp>
      <p:pic>
        <p:nvPicPr>
          <p:cNvPr id="4" name="Picture 3">
            <a:extLst>
              <a:ext uri="{FF2B5EF4-FFF2-40B4-BE49-F238E27FC236}">
                <a16:creationId xmlns:a16="http://schemas.microsoft.com/office/drawing/2014/main" id="{E18017C4-E838-29BD-51E2-E83E9FAE7892}"/>
              </a:ext>
            </a:extLst>
          </p:cNvPr>
          <p:cNvPicPr>
            <a:picLocks noChangeAspect="1"/>
          </p:cNvPicPr>
          <p:nvPr/>
        </p:nvPicPr>
        <p:blipFill>
          <a:blip r:embed="rId3"/>
          <a:stretch>
            <a:fillRect/>
          </a:stretch>
        </p:blipFill>
        <p:spPr>
          <a:xfrm>
            <a:off x="5936676" y="5806"/>
            <a:ext cx="6255324" cy="6852193"/>
          </a:xfrm>
          <a:prstGeom prst="rect">
            <a:avLst/>
          </a:prstGeom>
        </p:spPr>
      </p:pic>
      <p:pic>
        <p:nvPicPr>
          <p:cNvPr id="3" name="Picture 2">
            <a:extLst>
              <a:ext uri="{FF2B5EF4-FFF2-40B4-BE49-F238E27FC236}">
                <a16:creationId xmlns:a16="http://schemas.microsoft.com/office/drawing/2014/main" id="{7BA0E14B-A8B8-51A7-53EE-0722C36FFFB6}"/>
              </a:ext>
            </a:extLst>
          </p:cNvPr>
          <p:cNvPicPr>
            <a:picLocks noChangeAspect="1"/>
          </p:cNvPicPr>
          <p:nvPr/>
        </p:nvPicPr>
        <p:blipFill>
          <a:blip r:embed="rId4"/>
          <a:stretch>
            <a:fillRect/>
          </a:stretch>
        </p:blipFill>
        <p:spPr>
          <a:xfrm>
            <a:off x="76204" y="5868185"/>
            <a:ext cx="903221" cy="903221"/>
          </a:xfrm>
          <a:prstGeom prst="rect">
            <a:avLst/>
          </a:prstGeom>
        </p:spPr>
      </p:pic>
      <p:sp>
        <p:nvSpPr>
          <p:cNvPr id="5" name="Date Placeholder 4">
            <a:extLst>
              <a:ext uri="{FF2B5EF4-FFF2-40B4-BE49-F238E27FC236}">
                <a16:creationId xmlns:a16="http://schemas.microsoft.com/office/drawing/2014/main" id="{E36AB61F-DA34-A5EB-DC4E-48E8F2C90EEB}"/>
              </a:ext>
            </a:extLst>
          </p:cNvPr>
          <p:cNvSpPr>
            <a:spLocks noGrp="1"/>
          </p:cNvSpPr>
          <p:nvPr>
            <p:ph type="dt" sz="half" idx="10"/>
          </p:nvPr>
        </p:nvSpPr>
        <p:spPr>
          <a:xfrm>
            <a:off x="3790539" y="6499082"/>
            <a:ext cx="2743200" cy="365125"/>
          </a:xfrm>
        </p:spPr>
        <p:txBody>
          <a:bodyPr/>
          <a:lstStyle/>
          <a:p>
            <a:fld id="{6AB16C8A-47F1-4B45-AE21-6DD67AA52CAF}" type="datetime9">
              <a:rPr lang="en-US" b="1" smtClean="0">
                <a:solidFill>
                  <a:srgbClr val="7030A0"/>
                </a:solidFill>
              </a:rPr>
              <a:t>5/16/2026 10:59:48 PM</a:t>
            </a:fld>
            <a:endParaRPr lang="en-CA" b="1" dirty="0">
              <a:solidFill>
                <a:srgbClr val="7030A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9" name="Google Shape;369;p36"/>
          <p:cNvSpPr txBox="1"/>
          <p:nvPr/>
        </p:nvSpPr>
        <p:spPr>
          <a:xfrm>
            <a:off x="566839" y="1238442"/>
            <a:ext cx="422910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chemeClr val="tx1">
                    <a:lumMod val="95000"/>
                    <a:lumOff val="5000"/>
                  </a:schemeClr>
                </a:solidFill>
                <a:latin typeface="+mj-lt"/>
                <a:ea typeface="Poppins Medium"/>
                <a:cs typeface="Poppins Medium"/>
                <a:sym typeface="Poppins Medium"/>
              </a:rPr>
              <a:t>Dynamic Mobile Environments</a:t>
            </a:r>
            <a:endParaRPr sz="2400" b="1" dirty="0">
              <a:solidFill>
                <a:schemeClr val="tx1">
                  <a:lumMod val="95000"/>
                  <a:lumOff val="5000"/>
                </a:schemeClr>
              </a:solidFill>
              <a:latin typeface="+mj-lt"/>
            </a:endParaRPr>
          </a:p>
        </p:txBody>
      </p:sp>
      <p:sp>
        <p:nvSpPr>
          <p:cNvPr id="370" name="Google Shape;370;p36"/>
          <p:cNvSpPr txBox="1"/>
          <p:nvPr/>
        </p:nvSpPr>
        <p:spPr>
          <a:xfrm>
            <a:off x="604332" y="1609571"/>
            <a:ext cx="4531138" cy="135421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chemeClr val="tx1">
                    <a:lumMod val="95000"/>
                    <a:lumOff val="5000"/>
                  </a:schemeClr>
                </a:solidFill>
                <a:latin typeface="Inter"/>
                <a:ea typeface="Inter"/>
                <a:cs typeface="Inter"/>
                <a:sym typeface="Inter"/>
              </a:rPr>
              <a:t>Subjected to time-varying channel conditions modeling Doppler effects and extreme multipath propagation.</a:t>
            </a:r>
          </a:p>
          <a:p>
            <a:pPr marL="0" marR="0" lvl="0" indent="0" algn="l" rtl="0">
              <a:lnSpc>
                <a:spcPct val="160000"/>
              </a:lnSpc>
              <a:spcBef>
                <a:spcPts val="0"/>
              </a:spcBef>
              <a:spcAft>
                <a:spcPts val="0"/>
              </a:spcAft>
              <a:buNone/>
            </a:pPr>
            <a:r>
              <a:rPr lang="en-US" sz="1400" b="1" dirty="0">
                <a:solidFill>
                  <a:schemeClr val="tx1">
                    <a:lumMod val="95000"/>
                    <a:lumOff val="5000"/>
                  </a:schemeClr>
                </a:solidFill>
                <a:latin typeface="Inter" panose="020B0604020202020204" charset="0"/>
                <a:ea typeface="Inter" panose="020B0604020202020204" charset="0"/>
              </a:rPr>
              <a:t>Dataset:</a:t>
            </a:r>
            <a:r>
              <a:rPr lang="en-US" sz="1400" dirty="0">
                <a:solidFill>
                  <a:schemeClr val="tx1">
                    <a:lumMod val="95000"/>
                    <a:lumOff val="5000"/>
                  </a:schemeClr>
                </a:solidFill>
                <a:latin typeface="Inter" panose="020B0604020202020204" charset="0"/>
                <a:ea typeface="Inter" panose="020B0604020202020204" charset="0"/>
              </a:rPr>
              <a:t> </a:t>
            </a:r>
            <a:r>
              <a:rPr lang="en-US" sz="1400" b="1" dirty="0">
                <a:solidFill>
                  <a:schemeClr val="tx1">
                    <a:lumMod val="95000"/>
                    <a:lumOff val="5000"/>
                  </a:schemeClr>
                </a:solidFill>
                <a:latin typeface="Inter" panose="020B0604020202020204" charset="0"/>
                <a:ea typeface="Inter" panose="020B0604020202020204" charset="0"/>
              </a:rPr>
              <a:t>1024×2 I/Q </a:t>
            </a:r>
            <a:r>
              <a:rPr lang="en-US" sz="1400" dirty="0">
                <a:solidFill>
                  <a:schemeClr val="tx1">
                    <a:lumMod val="95000"/>
                    <a:lumOff val="5000"/>
                  </a:schemeClr>
                </a:solidFill>
                <a:latin typeface="Inter" panose="020B0604020202020204" charset="0"/>
                <a:ea typeface="Inter" panose="020B0604020202020204" charset="0"/>
              </a:rPr>
              <a:t>samples with size </a:t>
            </a:r>
            <a:r>
              <a:rPr lang="en-US" sz="1400" b="1" dirty="0">
                <a:solidFill>
                  <a:schemeClr val="tx1">
                    <a:lumMod val="95000"/>
                    <a:lumOff val="5000"/>
                  </a:schemeClr>
                </a:solidFill>
                <a:latin typeface="Inter" panose="020B0604020202020204" charset="0"/>
                <a:ea typeface="Inter" panose="020B0604020202020204" charset="0"/>
              </a:rPr>
              <a:t>780,000</a:t>
            </a:r>
            <a:r>
              <a:rPr lang="en-US" sz="1400" dirty="0">
                <a:solidFill>
                  <a:schemeClr val="tx1">
                    <a:lumMod val="95000"/>
                    <a:lumOff val="5000"/>
                  </a:schemeClr>
                </a:solidFill>
                <a:latin typeface="Inter" panose="020B0604020202020204" charset="0"/>
                <a:ea typeface="Inter" panose="020B0604020202020204" charset="0"/>
              </a:rPr>
              <a:t> over a SNR Range </a:t>
            </a:r>
            <a:r>
              <a:rPr lang="en-US" sz="1400" b="1" dirty="0">
                <a:solidFill>
                  <a:schemeClr val="tx1">
                    <a:lumMod val="95000"/>
                    <a:lumOff val="5000"/>
                  </a:schemeClr>
                </a:solidFill>
                <a:latin typeface="Inter" panose="020B0604020202020204" charset="0"/>
                <a:ea typeface="Inter" panose="020B0604020202020204" charset="0"/>
              </a:rPr>
              <a:t>(-20dB to 18dB)  </a:t>
            </a:r>
            <a:r>
              <a:rPr lang="en-US" sz="1400" dirty="0">
                <a:solidFill>
                  <a:schemeClr val="tx1">
                    <a:lumMod val="95000"/>
                    <a:lumOff val="5000"/>
                  </a:schemeClr>
                </a:solidFill>
                <a:latin typeface="Inter" panose="020B0604020202020204" charset="0"/>
                <a:ea typeface="Inter" panose="020B0604020202020204" charset="0"/>
              </a:rPr>
              <a:t>observation windows.</a:t>
            </a:r>
            <a:endParaRPr sz="1400" dirty="0">
              <a:solidFill>
                <a:schemeClr val="tx1">
                  <a:lumMod val="95000"/>
                  <a:lumOff val="5000"/>
                </a:schemeClr>
              </a:solidFill>
              <a:latin typeface="Inter" panose="020B0604020202020204" charset="0"/>
              <a:ea typeface="Inter" panose="020B0604020202020204" charset="0"/>
            </a:endParaRPr>
          </a:p>
        </p:txBody>
      </p:sp>
      <p:sp>
        <p:nvSpPr>
          <p:cNvPr id="371" name="Google Shape;371;p36"/>
          <p:cNvSpPr txBox="1"/>
          <p:nvPr/>
        </p:nvSpPr>
        <p:spPr>
          <a:xfrm>
            <a:off x="856515" y="2963631"/>
            <a:ext cx="4172685" cy="9971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chemeClr val="tx1">
                    <a:lumMod val="95000"/>
                    <a:lumOff val="5000"/>
                  </a:schemeClr>
                </a:solidFill>
                <a:latin typeface="Inter"/>
                <a:ea typeface="Inter"/>
                <a:cs typeface="Inter"/>
                <a:sym typeface="Inter"/>
              </a:rPr>
              <a:t>Overall, Dominance:</a:t>
            </a:r>
            <a:r>
              <a:rPr lang="en-US" sz="1350" b="0" i="0" u="none" strike="noStrike" cap="none" dirty="0">
                <a:solidFill>
                  <a:schemeClr val="tx1">
                    <a:lumMod val="95000"/>
                    <a:lumOff val="5000"/>
                  </a:schemeClr>
                </a:solidFill>
                <a:latin typeface="Inter"/>
                <a:ea typeface="Inter"/>
                <a:cs typeface="Inter"/>
                <a:sym typeface="Inter"/>
              </a:rPr>
              <a:t> All evaluated models achieve exceptionally high performance across the entire SNR range.</a:t>
            </a:r>
            <a:endParaRPr dirty="0">
              <a:solidFill>
                <a:schemeClr val="tx1">
                  <a:lumMod val="95000"/>
                  <a:lumOff val="5000"/>
                </a:schemeClr>
              </a:solidFill>
            </a:endParaRPr>
          </a:p>
        </p:txBody>
      </p:sp>
      <p:sp>
        <p:nvSpPr>
          <p:cNvPr id="372" name="Google Shape;372;p36"/>
          <p:cNvSpPr txBox="1"/>
          <p:nvPr/>
        </p:nvSpPr>
        <p:spPr>
          <a:xfrm>
            <a:off x="857250" y="3942193"/>
            <a:ext cx="4278954" cy="7755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chemeClr val="tx1">
                    <a:lumMod val="95000"/>
                    <a:lumOff val="5000"/>
                  </a:schemeClr>
                </a:solidFill>
                <a:latin typeface="Inter"/>
                <a:ea typeface="Inter"/>
                <a:cs typeface="Inter"/>
                <a:sym typeface="Inter"/>
              </a:rPr>
              <a:t>LSTM Efficiency:</a:t>
            </a:r>
            <a:r>
              <a:rPr lang="en-US" sz="1350" b="0" i="0" u="none" strike="noStrike" cap="none" dirty="0">
                <a:solidFill>
                  <a:schemeClr val="tx1">
                    <a:lumMod val="95000"/>
                    <a:lumOff val="5000"/>
                  </a:schemeClr>
                </a:solidFill>
                <a:latin typeface="Inter"/>
                <a:ea typeface="Inter"/>
                <a:cs typeface="Inter"/>
                <a:sym typeface="Inter"/>
              </a:rPr>
              <a:t> Attains 99.3% accuracy and a “</a:t>
            </a:r>
            <a:r>
              <a:rPr lang="en-US" sz="1350" b="1" i="0" u="none" strike="noStrike" cap="none" dirty="0">
                <a:solidFill>
                  <a:schemeClr val="tx1">
                    <a:lumMod val="95000"/>
                    <a:lumOff val="5000"/>
                  </a:schemeClr>
                </a:solidFill>
                <a:latin typeface="Inter"/>
                <a:ea typeface="Inter"/>
                <a:cs typeface="Inter"/>
                <a:sym typeface="Inter"/>
              </a:rPr>
              <a:t>P</a:t>
            </a:r>
            <a:r>
              <a:rPr lang="en-US" sz="1000" b="0" i="0" u="none" strike="noStrike" cap="none" dirty="0">
                <a:solidFill>
                  <a:schemeClr val="tx1">
                    <a:lumMod val="95000"/>
                    <a:lumOff val="5000"/>
                  </a:schemeClr>
                </a:solidFill>
                <a:latin typeface="Inter"/>
                <a:ea typeface="Inter"/>
                <a:cs typeface="Inter"/>
                <a:sym typeface="Inter"/>
              </a:rPr>
              <a:t>d</a:t>
            </a:r>
            <a:r>
              <a:rPr lang="en-US" b="0" i="0" u="none" strike="noStrike" cap="none" dirty="0">
                <a:solidFill>
                  <a:schemeClr val="tx1">
                    <a:lumMod val="95000"/>
                    <a:lumOff val="5000"/>
                  </a:schemeClr>
                </a:solidFill>
                <a:latin typeface="Inter"/>
                <a:ea typeface="Inter"/>
                <a:cs typeface="Inter"/>
                <a:sym typeface="Inter"/>
              </a:rPr>
              <a:t>”</a:t>
            </a:r>
            <a:r>
              <a:rPr lang="en-US" sz="1350" b="0" i="0" u="none" strike="noStrike" cap="none" dirty="0">
                <a:solidFill>
                  <a:schemeClr val="tx1">
                    <a:lumMod val="95000"/>
                    <a:lumOff val="5000"/>
                  </a:schemeClr>
                </a:solidFill>
                <a:latin typeface="Inter"/>
                <a:ea typeface="Inter"/>
                <a:cs typeface="Inter"/>
                <a:sym typeface="Inter"/>
              </a:rPr>
              <a:t> of 98.9% even at severe -20 dB noise floors.</a:t>
            </a:r>
            <a:endParaRPr dirty="0">
              <a:solidFill>
                <a:schemeClr val="tx1">
                  <a:lumMod val="95000"/>
                  <a:lumOff val="5000"/>
                </a:schemeClr>
              </a:solidFill>
            </a:endParaRPr>
          </a:p>
        </p:txBody>
      </p:sp>
      <p:sp>
        <p:nvSpPr>
          <p:cNvPr id="373" name="Google Shape;373;p36"/>
          <p:cNvSpPr txBox="1"/>
          <p:nvPr/>
        </p:nvSpPr>
        <p:spPr>
          <a:xfrm>
            <a:off x="856515" y="4643629"/>
            <a:ext cx="4278954"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chemeClr val="tx1">
                    <a:lumMod val="95000"/>
                    <a:lumOff val="5000"/>
                  </a:schemeClr>
                </a:solidFill>
                <a:latin typeface="Inter"/>
                <a:ea typeface="Inter"/>
                <a:cs typeface="Inter"/>
                <a:sym typeface="Inter"/>
              </a:rPr>
              <a:t>Phase-Aware Precision:</a:t>
            </a:r>
            <a:r>
              <a:rPr lang="en-US" sz="1350" b="0" i="0" u="none" strike="noStrike" cap="none" dirty="0">
                <a:solidFill>
                  <a:schemeClr val="tx1">
                    <a:lumMod val="95000"/>
                    <a:lumOff val="5000"/>
                  </a:schemeClr>
                </a:solidFill>
                <a:latin typeface="Inter"/>
                <a:ea typeface="Inter"/>
                <a:cs typeface="Inter"/>
                <a:sym typeface="Inter"/>
              </a:rPr>
              <a:t> PETCGDNN maintains near-perfect F1-scores (&gt;0.998) at all tested levels.</a:t>
            </a:r>
            <a:endParaRPr dirty="0">
              <a:solidFill>
                <a:schemeClr val="tx1">
                  <a:lumMod val="95000"/>
                  <a:lumOff val="5000"/>
                </a:schemeClr>
              </a:solidFill>
            </a:endParaRPr>
          </a:p>
        </p:txBody>
      </p:sp>
      <p:sp>
        <p:nvSpPr>
          <p:cNvPr id="374" name="Google Shape;374;p36"/>
          <p:cNvSpPr txBox="1"/>
          <p:nvPr/>
        </p:nvSpPr>
        <p:spPr>
          <a:xfrm>
            <a:off x="857251" y="5261520"/>
            <a:ext cx="4416080"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chemeClr val="tx1">
                    <a:lumMod val="95000"/>
                    <a:lumOff val="5000"/>
                  </a:schemeClr>
                </a:solidFill>
                <a:latin typeface="Inter"/>
                <a:ea typeface="Inter"/>
                <a:cs typeface="Inter"/>
                <a:sym typeface="Inter"/>
              </a:rPr>
              <a:t>Separability:</a:t>
            </a:r>
            <a:r>
              <a:rPr lang="en-US" sz="1350" b="0" i="0" u="none" strike="noStrike" cap="none" dirty="0">
                <a:solidFill>
                  <a:schemeClr val="tx1">
                    <a:lumMod val="95000"/>
                    <a:lumOff val="5000"/>
                  </a:schemeClr>
                </a:solidFill>
                <a:latin typeface="Inter"/>
                <a:ea typeface="Inter"/>
                <a:cs typeface="Inter"/>
                <a:sym typeface="Inter"/>
              </a:rPr>
              <a:t> Distinct pulse shaping and constellations make signals easily separable from colored noise.</a:t>
            </a:r>
            <a:endParaRPr dirty="0">
              <a:solidFill>
                <a:schemeClr val="tx1">
                  <a:lumMod val="95000"/>
                  <a:lumOff val="5000"/>
                </a:schemeClr>
              </a:solidFill>
            </a:endParaRPr>
          </a:p>
        </p:txBody>
      </p:sp>
      <p:sp>
        <p:nvSpPr>
          <p:cNvPr id="376" name="Google Shape;376;p36"/>
          <p:cNvSpPr txBox="1"/>
          <p:nvPr/>
        </p:nvSpPr>
        <p:spPr>
          <a:xfrm>
            <a:off x="362745" y="557369"/>
            <a:ext cx="5628482"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dirty="0">
                <a:solidFill>
                  <a:schemeClr val="accent1">
                    <a:lumMod val="75000"/>
                  </a:schemeClr>
                </a:solidFill>
                <a:latin typeface="+mj-lt"/>
                <a:ea typeface="Poppins Medium"/>
                <a:cs typeface="Poppins Medium"/>
                <a:sym typeface="Poppins Medium"/>
              </a:rPr>
              <a:t>Results: </a:t>
            </a:r>
            <a:r>
              <a:rPr lang="en-US" sz="3200" b="1" i="0" u="none" strike="noStrike" cap="none" dirty="0">
                <a:solidFill>
                  <a:schemeClr val="accent1">
                    <a:lumMod val="75000"/>
                  </a:schemeClr>
                </a:solidFill>
                <a:latin typeface="+mj-lt"/>
                <a:ea typeface="Poppins Medium"/>
                <a:cs typeface="Poppins ExtraBold" panose="020B0502040204020203" pitchFamily="2" charset="0"/>
                <a:sym typeface="Poppins Medium"/>
              </a:rPr>
              <a:t>HisarMod2019</a:t>
            </a:r>
            <a:r>
              <a:rPr lang="en-US" sz="3200" b="1" i="0" u="none" strike="noStrike" cap="none" dirty="0">
                <a:solidFill>
                  <a:schemeClr val="accent1">
                    <a:lumMod val="75000"/>
                  </a:schemeClr>
                </a:solidFill>
                <a:latin typeface="+mj-lt"/>
                <a:ea typeface="Poppins Medium"/>
                <a:cs typeface="Poppins Medium"/>
                <a:sym typeface="Poppins Medium"/>
              </a:rPr>
              <a:t> Dataset</a:t>
            </a:r>
            <a:endParaRPr sz="3200" b="1" dirty="0">
              <a:solidFill>
                <a:schemeClr val="accent1">
                  <a:lumMod val="75000"/>
                </a:schemeClr>
              </a:solidFill>
              <a:latin typeface="+mj-lt"/>
            </a:endParaRPr>
          </a:p>
        </p:txBody>
      </p:sp>
      <p:pic>
        <p:nvPicPr>
          <p:cNvPr id="377" name="Google Shape;377;p36" descr="image.png"/>
          <p:cNvPicPr preferRelativeResize="0"/>
          <p:nvPr/>
        </p:nvPicPr>
        <p:blipFill rotWithShape="1">
          <a:blip r:embed="rId3">
            <a:alphaModFix/>
          </a:blip>
          <a:srcRect/>
          <a:stretch/>
        </p:blipFill>
        <p:spPr>
          <a:xfrm>
            <a:off x="551944" y="3071499"/>
            <a:ext cx="104775" cy="180975"/>
          </a:xfrm>
          <a:prstGeom prst="rect">
            <a:avLst/>
          </a:prstGeom>
          <a:noFill/>
          <a:ln>
            <a:noFill/>
          </a:ln>
        </p:spPr>
      </p:pic>
      <p:pic>
        <p:nvPicPr>
          <p:cNvPr id="378" name="Google Shape;378;p36" descr="image.png"/>
          <p:cNvPicPr preferRelativeResize="0"/>
          <p:nvPr/>
        </p:nvPicPr>
        <p:blipFill rotWithShape="1">
          <a:blip r:embed="rId3">
            <a:alphaModFix/>
          </a:blip>
          <a:srcRect/>
          <a:stretch/>
        </p:blipFill>
        <p:spPr>
          <a:xfrm>
            <a:off x="551944" y="4041131"/>
            <a:ext cx="104775" cy="180975"/>
          </a:xfrm>
          <a:prstGeom prst="rect">
            <a:avLst/>
          </a:prstGeom>
          <a:noFill/>
          <a:ln>
            <a:noFill/>
          </a:ln>
        </p:spPr>
      </p:pic>
      <p:pic>
        <p:nvPicPr>
          <p:cNvPr id="380" name="Google Shape;380;p36" descr="image.png"/>
          <p:cNvPicPr preferRelativeResize="0"/>
          <p:nvPr/>
        </p:nvPicPr>
        <p:blipFill rotWithShape="1">
          <a:blip r:embed="rId3">
            <a:alphaModFix/>
          </a:blip>
          <a:srcRect/>
          <a:stretch/>
        </p:blipFill>
        <p:spPr>
          <a:xfrm>
            <a:off x="552526" y="4756834"/>
            <a:ext cx="104775" cy="180975"/>
          </a:xfrm>
          <a:prstGeom prst="rect">
            <a:avLst/>
          </a:prstGeom>
          <a:noFill/>
          <a:ln>
            <a:noFill/>
          </a:ln>
        </p:spPr>
      </p:pic>
      <p:pic>
        <p:nvPicPr>
          <p:cNvPr id="381" name="Google Shape;381;p36" descr="image.png"/>
          <p:cNvPicPr preferRelativeResize="0"/>
          <p:nvPr/>
        </p:nvPicPr>
        <p:blipFill rotWithShape="1">
          <a:blip r:embed="rId3">
            <a:alphaModFix/>
          </a:blip>
          <a:srcRect/>
          <a:stretch/>
        </p:blipFill>
        <p:spPr>
          <a:xfrm>
            <a:off x="553160" y="5382049"/>
            <a:ext cx="104775" cy="180975"/>
          </a:xfrm>
          <a:prstGeom prst="rect">
            <a:avLst/>
          </a:prstGeom>
          <a:noFill/>
          <a:ln>
            <a:noFill/>
          </a:ln>
        </p:spPr>
      </p:pic>
      <p:sp>
        <p:nvSpPr>
          <p:cNvPr id="2" name="Slide Number Placeholder 1">
            <a:extLst>
              <a:ext uri="{FF2B5EF4-FFF2-40B4-BE49-F238E27FC236}">
                <a16:creationId xmlns:a16="http://schemas.microsoft.com/office/drawing/2014/main" id="{44FC1F1B-27CE-D335-38E0-7F7B9B27AAC8}"/>
              </a:ext>
            </a:extLst>
          </p:cNvPr>
          <p:cNvSpPr>
            <a:spLocks noGrp="1"/>
          </p:cNvSpPr>
          <p:nvPr>
            <p:ph type="sldNum" sz="quarter" idx="12"/>
          </p:nvPr>
        </p:nvSpPr>
        <p:spPr>
          <a:xfrm>
            <a:off x="4795939" y="6409703"/>
            <a:ext cx="1009800" cy="365125"/>
          </a:xfrm>
        </p:spPr>
        <p:txBody>
          <a:bodyPr/>
          <a:lstStyle/>
          <a:p>
            <a:pPr marL="0" lvl="0" indent="0" algn="r" rtl="0">
              <a:spcBef>
                <a:spcPts val="0"/>
              </a:spcBef>
              <a:spcAft>
                <a:spcPts val="0"/>
              </a:spcAft>
              <a:buNone/>
            </a:pPr>
            <a:fld id="{00000000-1234-1234-1234-123412341234}" type="slidenum">
              <a:rPr lang="en-US" b="1" smtClean="0">
                <a:solidFill>
                  <a:schemeClr val="tx1">
                    <a:lumMod val="95000"/>
                    <a:lumOff val="5000"/>
                  </a:schemeClr>
                </a:solidFill>
              </a:rPr>
              <a:t>17</a:t>
            </a:fld>
            <a:endParaRPr lang="en-US" b="1" dirty="0">
              <a:solidFill>
                <a:schemeClr val="tx1">
                  <a:lumMod val="95000"/>
                  <a:lumOff val="5000"/>
                </a:schemeClr>
              </a:solidFill>
            </a:endParaRPr>
          </a:p>
        </p:txBody>
      </p:sp>
      <p:pic>
        <p:nvPicPr>
          <p:cNvPr id="4" name="Picture 3">
            <a:extLst>
              <a:ext uri="{FF2B5EF4-FFF2-40B4-BE49-F238E27FC236}">
                <a16:creationId xmlns:a16="http://schemas.microsoft.com/office/drawing/2014/main" id="{00CF69A4-2FB6-2B29-F02A-F628A50D309D}"/>
              </a:ext>
            </a:extLst>
          </p:cNvPr>
          <p:cNvPicPr>
            <a:picLocks noChangeAspect="1"/>
          </p:cNvPicPr>
          <p:nvPr/>
        </p:nvPicPr>
        <p:blipFill>
          <a:blip r:embed="rId4"/>
          <a:stretch>
            <a:fillRect/>
          </a:stretch>
        </p:blipFill>
        <p:spPr>
          <a:xfrm>
            <a:off x="5943600" y="5806"/>
            <a:ext cx="6248400" cy="6852193"/>
          </a:xfrm>
          <a:prstGeom prst="rect">
            <a:avLst/>
          </a:prstGeom>
        </p:spPr>
      </p:pic>
      <p:pic>
        <p:nvPicPr>
          <p:cNvPr id="3" name="Picture 2">
            <a:extLst>
              <a:ext uri="{FF2B5EF4-FFF2-40B4-BE49-F238E27FC236}">
                <a16:creationId xmlns:a16="http://schemas.microsoft.com/office/drawing/2014/main" id="{75FF8139-7AF3-5D37-0523-ED3B3677AA48}"/>
              </a:ext>
            </a:extLst>
          </p:cNvPr>
          <p:cNvPicPr>
            <a:picLocks noChangeAspect="1"/>
          </p:cNvPicPr>
          <p:nvPr/>
        </p:nvPicPr>
        <p:blipFill>
          <a:blip r:embed="rId5"/>
          <a:stretch>
            <a:fillRect/>
          </a:stretch>
        </p:blipFill>
        <p:spPr>
          <a:xfrm>
            <a:off x="76204" y="5868185"/>
            <a:ext cx="903221" cy="903221"/>
          </a:xfrm>
          <a:prstGeom prst="rect">
            <a:avLst/>
          </a:prstGeom>
        </p:spPr>
      </p:pic>
      <p:sp>
        <p:nvSpPr>
          <p:cNvPr id="5" name="Date Placeholder 4">
            <a:extLst>
              <a:ext uri="{FF2B5EF4-FFF2-40B4-BE49-F238E27FC236}">
                <a16:creationId xmlns:a16="http://schemas.microsoft.com/office/drawing/2014/main" id="{666FD35B-1294-52E7-2D99-7D374DE2BD3F}"/>
              </a:ext>
            </a:extLst>
          </p:cNvPr>
          <p:cNvSpPr>
            <a:spLocks noGrp="1"/>
          </p:cNvSpPr>
          <p:nvPr>
            <p:ph type="dt" sz="half" idx="10"/>
          </p:nvPr>
        </p:nvSpPr>
        <p:spPr>
          <a:xfrm>
            <a:off x="3763869" y="6406281"/>
            <a:ext cx="2743200" cy="365125"/>
          </a:xfrm>
        </p:spPr>
        <p:txBody>
          <a:bodyPr/>
          <a:lstStyle/>
          <a:p>
            <a:fld id="{66077EC2-66EF-4F75-9DCB-AD260D14AE26}" type="datetime9">
              <a:rPr lang="en-US" b="1" smtClean="0">
                <a:solidFill>
                  <a:srgbClr val="7030A0"/>
                </a:solidFill>
              </a:rPr>
              <a:t>5/16/2026 10:59:48 PM</a:t>
            </a:fld>
            <a:endParaRPr lang="en-CA" b="1" dirty="0">
              <a:solidFill>
                <a:srgbClr val="7030A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8" name="Google Shape;388;p37"/>
          <p:cNvSpPr txBox="1"/>
          <p:nvPr/>
        </p:nvSpPr>
        <p:spPr>
          <a:xfrm>
            <a:off x="6334125" y="1189612"/>
            <a:ext cx="4103654"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chemeClr val="tx1">
                    <a:lumMod val="95000"/>
                    <a:lumOff val="5000"/>
                  </a:schemeClr>
                </a:solidFill>
                <a:latin typeface="+mj-lt"/>
                <a:ea typeface="Poppins Medium"/>
                <a:cs typeface="Poppins Medium"/>
                <a:sym typeface="Poppins Medium"/>
              </a:rPr>
              <a:t>Real-World Ionospheric Data</a:t>
            </a:r>
            <a:endParaRPr sz="2400" b="1" dirty="0">
              <a:solidFill>
                <a:schemeClr val="tx1">
                  <a:lumMod val="95000"/>
                  <a:lumOff val="5000"/>
                </a:schemeClr>
              </a:solidFill>
              <a:latin typeface="+mj-lt"/>
            </a:endParaRPr>
          </a:p>
        </p:txBody>
      </p:sp>
      <p:sp>
        <p:nvSpPr>
          <p:cNvPr id="389" name="Google Shape;389;p37"/>
          <p:cNvSpPr txBox="1"/>
          <p:nvPr/>
        </p:nvSpPr>
        <p:spPr>
          <a:xfrm>
            <a:off x="6326549" y="1638882"/>
            <a:ext cx="4557814" cy="9971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chemeClr val="tx1">
                    <a:lumMod val="95000"/>
                    <a:lumOff val="5000"/>
                  </a:schemeClr>
                </a:solidFill>
                <a:latin typeface="Inter"/>
                <a:ea typeface="Inter"/>
                <a:cs typeface="Inter"/>
                <a:sym typeface="Inter"/>
              </a:rPr>
              <a:t>The ultimate stress test utilizing real over-the-air High-Frequency (HF) radio signals characterized by non-stationary noise.</a:t>
            </a:r>
            <a:endParaRPr dirty="0">
              <a:solidFill>
                <a:schemeClr val="tx1">
                  <a:lumMod val="95000"/>
                  <a:lumOff val="5000"/>
                </a:schemeClr>
              </a:solidFill>
            </a:endParaRPr>
          </a:p>
        </p:txBody>
      </p:sp>
      <p:sp>
        <p:nvSpPr>
          <p:cNvPr id="391" name="Google Shape;391;p37"/>
          <p:cNvSpPr txBox="1"/>
          <p:nvPr/>
        </p:nvSpPr>
        <p:spPr>
          <a:xfrm>
            <a:off x="6619875" y="3413819"/>
            <a:ext cx="4272064"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chemeClr val="tx1">
                    <a:lumMod val="95000"/>
                    <a:lumOff val="5000"/>
                  </a:schemeClr>
                </a:solidFill>
                <a:latin typeface="Inter"/>
                <a:ea typeface="Inter"/>
                <a:cs typeface="Inter"/>
                <a:sym typeface="Inter"/>
              </a:rPr>
              <a:t>Peak Accuracy:</a:t>
            </a:r>
            <a:r>
              <a:rPr lang="en-US" sz="1350" b="0" i="0" u="none" strike="noStrike" cap="none" dirty="0">
                <a:solidFill>
                  <a:schemeClr val="tx1">
                    <a:lumMod val="95000"/>
                    <a:lumOff val="5000"/>
                  </a:schemeClr>
                </a:solidFill>
                <a:latin typeface="Inter"/>
                <a:ea typeface="Inter"/>
                <a:cs typeface="Inter"/>
                <a:sym typeface="Inter"/>
              </a:rPr>
              <a:t> All four architectures successfully reach &gt;99% accuracy at 0 dB SNR.</a:t>
            </a:r>
            <a:endParaRPr dirty="0">
              <a:solidFill>
                <a:schemeClr val="tx1">
                  <a:lumMod val="95000"/>
                  <a:lumOff val="5000"/>
                </a:schemeClr>
              </a:solidFill>
            </a:endParaRPr>
          </a:p>
        </p:txBody>
      </p:sp>
      <p:sp>
        <p:nvSpPr>
          <p:cNvPr id="392" name="Google Shape;392;p37"/>
          <p:cNvSpPr txBox="1"/>
          <p:nvPr/>
        </p:nvSpPr>
        <p:spPr>
          <a:xfrm>
            <a:off x="6619876" y="4152900"/>
            <a:ext cx="4272064" cy="9971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chemeClr val="tx1">
                    <a:lumMod val="95000"/>
                    <a:lumOff val="5000"/>
                  </a:schemeClr>
                </a:solidFill>
                <a:latin typeface="Inter"/>
                <a:ea typeface="Inter"/>
                <a:cs typeface="Inter"/>
                <a:sym typeface="Inter"/>
              </a:rPr>
              <a:t>Domain Invariance:</a:t>
            </a:r>
            <a:r>
              <a:rPr lang="en-US" sz="1350" b="0" i="0" u="none" strike="noStrike" cap="none" dirty="0">
                <a:solidFill>
                  <a:schemeClr val="tx1">
                    <a:lumMod val="95000"/>
                    <a:lumOff val="5000"/>
                  </a:schemeClr>
                </a:solidFill>
                <a:latin typeface="Inter"/>
                <a:ea typeface="Inter"/>
                <a:cs typeface="Inter"/>
                <a:sym typeface="Inter"/>
              </a:rPr>
              <a:t> Models learned to recognize true domain-invariant phase and frequency transition patterns.</a:t>
            </a:r>
            <a:endParaRPr dirty="0">
              <a:solidFill>
                <a:schemeClr val="tx1">
                  <a:lumMod val="95000"/>
                  <a:lumOff val="5000"/>
                </a:schemeClr>
              </a:solidFill>
            </a:endParaRPr>
          </a:p>
        </p:txBody>
      </p:sp>
      <p:sp>
        <p:nvSpPr>
          <p:cNvPr id="393" name="Google Shape;393;p37"/>
          <p:cNvSpPr txBox="1"/>
          <p:nvPr/>
        </p:nvSpPr>
        <p:spPr>
          <a:xfrm>
            <a:off x="6619876" y="5071824"/>
            <a:ext cx="3956320" cy="9971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chemeClr val="tx1">
                    <a:lumMod val="95000"/>
                    <a:lumOff val="5000"/>
                  </a:schemeClr>
                </a:solidFill>
                <a:latin typeface="Inter"/>
                <a:ea typeface="Inter"/>
                <a:cs typeface="Inter"/>
                <a:sym typeface="Inter"/>
              </a:rPr>
              <a:t>Generalization Check:</a:t>
            </a:r>
            <a:r>
              <a:rPr lang="en-US" sz="1350" b="0" i="0" u="none" strike="noStrike" cap="none" dirty="0">
                <a:solidFill>
                  <a:schemeClr val="tx1">
                    <a:lumMod val="95000"/>
                    <a:lumOff val="5000"/>
                  </a:schemeClr>
                </a:solidFill>
                <a:latin typeface="Inter"/>
                <a:ea typeface="Inter"/>
                <a:cs typeface="Inter"/>
                <a:sym typeface="Inter"/>
              </a:rPr>
              <a:t> Successfully classified complex physical HF signals against our purely synthetic interference baselines.</a:t>
            </a:r>
            <a:endParaRPr dirty="0">
              <a:solidFill>
                <a:schemeClr val="tx1">
                  <a:lumMod val="95000"/>
                  <a:lumOff val="5000"/>
                </a:schemeClr>
              </a:solidFill>
            </a:endParaRPr>
          </a:p>
        </p:txBody>
      </p:sp>
      <p:sp>
        <p:nvSpPr>
          <p:cNvPr id="394" name="Google Shape;394;p37"/>
          <p:cNvSpPr txBox="1"/>
          <p:nvPr/>
        </p:nvSpPr>
        <p:spPr>
          <a:xfrm>
            <a:off x="6174632" y="554408"/>
            <a:ext cx="588339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dirty="0">
                <a:solidFill>
                  <a:schemeClr val="accent1">
                    <a:lumMod val="75000"/>
                  </a:schemeClr>
                </a:solidFill>
                <a:latin typeface="+mj-lt"/>
                <a:ea typeface="Poppins Medium"/>
                <a:cs typeface="Poppins Medium"/>
                <a:sym typeface="Poppins Medium"/>
              </a:rPr>
              <a:t>Results: </a:t>
            </a:r>
            <a:r>
              <a:rPr lang="en-US" sz="3200" b="1" i="0" u="none" strike="noStrike" cap="none" dirty="0" err="1">
                <a:solidFill>
                  <a:schemeClr val="accent1">
                    <a:lumMod val="75000"/>
                  </a:schemeClr>
                </a:solidFill>
                <a:latin typeface="+mj-lt"/>
                <a:ea typeface="Poppins Medium"/>
                <a:cs typeface="Poppins Medium"/>
                <a:sym typeface="Poppins Medium"/>
              </a:rPr>
              <a:t>PanoRadioHF</a:t>
            </a:r>
            <a:r>
              <a:rPr lang="en-US" sz="3200" b="1" i="0" u="none" strike="noStrike" cap="none" dirty="0">
                <a:solidFill>
                  <a:schemeClr val="accent1">
                    <a:lumMod val="75000"/>
                  </a:schemeClr>
                </a:solidFill>
                <a:latin typeface="+mj-lt"/>
                <a:ea typeface="Poppins Medium"/>
                <a:cs typeface="Poppins Medium"/>
                <a:sym typeface="Poppins Medium"/>
              </a:rPr>
              <a:t> Dataset</a:t>
            </a:r>
            <a:endParaRPr sz="3200" b="1" dirty="0">
              <a:solidFill>
                <a:schemeClr val="accent1">
                  <a:lumMod val="75000"/>
                </a:schemeClr>
              </a:solidFill>
              <a:latin typeface="+mj-lt"/>
            </a:endParaRPr>
          </a:p>
        </p:txBody>
      </p:sp>
      <p:pic>
        <p:nvPicPr>
          <p:cNvPr id="395" name="Google Shape;395;p37" descr="image.png"/>
          <p:cNvPicPr preferRelativeResize="0"/>
          <p:nvPr/>
        </p:nvPicPr>
        <p:blipFill rotWithShape="1">
          <a:blip r:embed="rId3">
            <a:alphaModFix/>
          </a:blip>
          <a:srcRect/>
          <a:stretch/>
        </p:blipFill>
        <p:spPr>
          <a:xfrm>
            <a:off x="6334125" y="3502813"/>
            <a:ext cx="104775" cy="180975"/>
          </a:xfrm>
          <a:prstGeom prst="rect">
            <a:avLst/>
          </a:prstGeom>
          <a:noFill/>
          <a:ln>
            <a:noFill/>
          </a:ln>
        </p:spPr>
      </p:pic>
      <p:pic>
        <p:nvPicPr>
          <p:cNvPr id="396" name="Google Shape;396;p37" descr="image.png"/>
          <p:cNvPicPr preferRelativeResize="0"/>
          <p:nvPr/>
        </p:nvPicPr>
        <p:blipFill rotWithShape="1">
          <a:blip r:embed="rId3">
            <a:alphaModFix/>
          </a:blip>
          <a:srcRect/>
          <a:stretch/>
        </p:blipFill>
        <p:spPr>
          <a:xfrm>
            <a:off x="6334125" y="4242075"/>
            <a:ext cx="104775" cy="180975"/>
          </a:xfrm>
          <a:prstGeom prst="rect">
            <a:avLst/>
          </a:prstGeom>
          <a:noFill/>
          <a:ln>
            <a:noFill/>
          </a:ln>
        </p:spPr>
      </p:pic>
      <p:pic>
        <p:nvPicPr>
          <p:cNvPr id="397" name="Google Shape;397;p37" descr="image.png"/>
          <p:cNvPicPr preferRelativeResize="0"/>
          <p:nvPr/>
        </p:nvPicPr>
        <p:blipFill rotWithShape="1">
          <a:blip r:embed="rId3">
            <a:alphaModFix/>
          </a:blip>
          <a:srcRect/>
          <a:stretch/>
        </p:blipFill>
        <p:spPr>
          <a:xfrm>
            <a:off x="6305550" y="5150096"/>
            <a:ext cx="104775" cy="180975"/>
          </a:xfrm>
          <a:prstGeom prst="rect">
            <a:avLst/>
          </a:prstGeom>
          <a:noFill/>
          <a:ln>
            <a:noFill/>
          </a:ln>
        </p:spPr>
      </p:pic>
      <p:sp>
        <p:nvSpPr>
          <p:cNvPr id="2" name="Slide Number Placeholder 1">
            <a:extLst>
              <a:ext uri="{FF2B5EF4-FFF2-40B4-BE49-F238E27FC236}">
                <a16:creationId xmlns:a16="http://schemas.microsoft.com/office/drawing/2014/main" id="{E58331B1-1686-70D5-14FE-521F982D0210}"/>
              </a:ext>
            </a:extLst>
          </p:cNvPr>
          <p:cNvSpPr>
            <a:spLocks noGrp="1"/>
          </p:cNvSpPr>
          <p:nvPr>
            <p:ph type="sldNum" sz="quarter" idx="12"/>
          </p:nvPr>
        </p:nvSpPr>
        <p:spPr>
          <a:xfrm>
            <a:off x="8496048" y="6356350"/>
            <a:ext cx="2743200" cy="365125"/>
          </a:xfrm>
        </p:spPr>
        <p:txBody>
          <a:bodyPr/>
          <a:lstStyle/>
          <a:p>
            <a:pPr marL="0" lvl="0" indent="0" algn="r" rtl="0">
              <a:spcBef>
                <a:spcPts val="0"/>
              </a:spcBef>
              <a:spcAft>
                <a:spcPts val="0"/>
              </a:spcAft>
              <a:buNone/>
            </a:pPr>
            <a:fld id="{00000000-1234-1234-1234-123412341234}" type="slidenum">
              <a:rPr lang="en-US" b="1" smtClean="0">
                <a:solidFill>
                  <a:schemeClr val="tx1">
                    <a:lumMod val="95000"/>
                    <a:lumOff val="5000"/>
                  </a:schemeClr>
                </a:solidFill>
              </a:rPr>
              <a:t>18</a:t>
            </a:fld>
            <a:endParaRPr lang="en-US" b="1" dirty="0">
              <a:solidFill>
                <a:schemeClr val="tx1">
                  <a:lumMod val="95000"/>
                  <a:lumOff val="5000"/>
                </a:schemeClr>
              </a:solidFill>
            </a:endParaRPr>
          </a:p>
        </p:txBody>
      </p:sp>
      <p:pic>
        <p:nvPicPr>
          <p:cNvPr id="4" name="Picture 3">
            <a:extLst>
              <a:ext uri="{FF2B5EF4-FFF2-40B4-BE49-F238E27FC236}">
                <a16:creationId xmlns:a16="http://schemas.microsoft.com/office/drawing/2014/main" id="{CCECC981-0257-5814-9533-27BC4C5BAD1F}"/>
              </a:ext>
            </a:extLst>
          </p:cNvPr>
          <p:cNvPicPr>
            <a:picLocks noChangeAspect="1"/>
          </p:cNvPicPr>
          <p:nvPr/>
        </p:nvPicPr>
        <p:blipFill>
          <a:blip r:embed="rId4"/>
          <a:stretch>
            <a:fillRect/>
          </a:stretch>
        </p:blipFill>
        <p:spPr>
          <a:xfrm>
            <a:off x="0" y="5806"/>
            <a:ext cx="6096000" cy="6846387"/>
          </a:xfrm>
          <a:prstGeom prst="rect">
            <a:avLst/>
          </a:prstGeom>
        </p:spPr>
      </p:pic>
      <p:pic>
        <p:nvPicPr>
          <p:cNvPr id="3" name="Picture 2">
            <a:extLst>
              <a:ext uri="{FF2B5EF4-FFF2-40B4-BE49-F238E27FC236}">
                <a16:creationId xmlns:a16="http://schemas.microsoft.com/office/drawing/2014/main" id="{81A59F7D-AC69-D49A-1986-9AD252A04A94}"/>
              </a:ext>
            </a:extLst>
          </p:cNvPr>
          <p:cNvPicPr>
            <a:picLocks noChangeAspect="1"/>
          </p:cNvPicPr>
          <p:nvPr/>
        </p:nvPicPr>
        <p:blipFill>
          <a:blip r:embed="rId5"/>
          <a:stretch>
            <a:fillRect/>
          </a:stretch>
        </p:blipFill>
        <p:spPr>
          <a:xfrm>
            <a:off x="11239248" y="5818254"/>
            <a:ext cx="903221" cy="903221"/>
          </a:xfrm>
          <a:prstGeom prst="rect">
            <a:avLst/>
          </a:prstGeom>
        </p:spPr>
      </p:pic>
      <p:sp>
        <p:nvSpPr>
          <p:cNvPr id="5" name="Date Placeholder 4">
            <a:extLst>
              <a:ext uri="{FF2B5EF4-FFF2-40B4-BE49-F238E27FC236}">
                <a16:creationId xmlns:a16="http://schemas.microsoft.com/office/drawing/2014/main" id="{674BFD7A-6FD3-F1A9-1EF4-0FA7DB67C395}"/>
              </a:ext>
            </a:extLst>
          </p:cNvPr>
          <p:cNvSpPr>
            <a:spLocks noGrp="1"/>
          </p:cNvSpPr>
          <p:nvPr>
            <p:ph type="dt" sz="half" idx="10"/>
          </p:nvPr>
        </p:nvSpPr>
        <p:spPr>
          <a:xfrm>
            <a:off x="9159100" y="6356349"/>
            <a:ext cx="2743200" cy="365125"/>
          </a:xfrm>
        </p:spPr>
        <p:txBody>
          <a:bodyPr/>
          <a:lstStyle/>
          <a:p>
            <a:fld id="{C1EE295E-1988-49EB-8323-4BF19E64A2EA}" type="datetime9">
              <a:rPr lang="en-US" b="1" smtClean="0">
                <a:solidFill>
                  <a:srgbClr val="7030A0"/>
                </a:solidFill>
              </a:rPr>
              <a:t>5/16/2026 10:59:48 PM</a:t>
            </a:fld>
            <a:endParaRPr lang="en-CA" b="1" dirty="0">
              <a:solidFill>
                <a:srgbClr val="7030A0"/>
              </a:solidFill>
            </a:endParaRPr>
          </a:p>
        </p:txBody>
      </p:sp>
      <p:sp>
        <p:nvSpPr>
          <p:cNvPr id="6" name="TextBox 5">
            <a:extLst>
              <a:ext uri="{FF2B5EF4-FFF2-40B4-BE49-F238E27FC236}">
                <a16:creationId xmlns:a16="http://schemas.microsoft.com/office/drawing/2014/main" id="{1390D2E0-6C88-F7BE-988B-D53F7EA57E70}"/>
              </a:ext>
            </a:extLst>
          </p:cNvPr>
          <p:cNvSpPr txBox="1"/>
          <p:nvPr/>
        </p:nvSpPr>
        <p:spPr>
          <a:xfrm>
            <a:off x="6228456" y="2835928"/>
            <a:ext cx="4739159" cy="523220"/>
          </a:xfrm>
          <a:prstGeom prst="rect">
            <a:avLst/>
          </a:prstGeom>
          <a:noFill/>
        </p:spPr>
        <p:txBody>
          <a:bodyPr wrap="square" rtlCol="0">
            <a:spAutoFit/>
          </a:bodyPr>
          <a:lstStyle/>
          <a:p>
            <a:r>
              <a:rPr lang="en-US" sz="1400" b="1" dirty="0">
                <a:solidFill>
                  <a:schemeClr val="tx1">
                    <a:lumMod val="95000"/>
                    <a:lumOff val="5000"/>
                  </a:schemeClr>
                </a:solidFill>
                <a:latin typeface="Inter" panose="020B0604020202020204" charset="0"/>
                <a:ea typeface="Inter" panose="020B0604020202020204" charset="0"/>
              </a:rPr>
              <a:t>Dataset:</a:t>
            </a:r>
            <a:r>
              <a:rPr lang="en-US" sz="1400" dirty="0">
                <a:solidFill>
                  <a:schemeClr val="tx1">
                    <a:lumMod val="95000"/>
                    <a:lumOff val="5000"/>
                  </a:schemeClr>
                </a:solidFill>
                <a:latin typeface="Inter" panose="020B0604020202020204" charset="0"/>
                <a:ea typeface="Inter" panose="020B0604020202020204" charset="0"/>
              </a:rPr>
              <a:t> </a:t>
            </a:r>
            <a:r>
              <a:rPr lang="en-US" sz="1400" b="1" dirty="0">
                <a:solidFill>
                  <a:schemeClr val="tx1">
                    <a:lumMod val="95000"/>
                    <a:lumOff val="5000"/>
                  </a:schemeClr>
                </a:solidFill>
                <a:latin typeface="Inter" panose="020B0604020202020204" charset="0"/>
                <a:ea typeface="Inter" panose="020B0604020202020204" charset="0"/>
              </a:rPr>
              <a:t>2048×2 I/Q </a:t>
            </a:r>
            <a:r>
              <a:rPr lang="en-US" sz="1400" dirty="0">
                <a:solidFill>
                  <a:schemeClr val="tx1">
                    <a:lumMod val="95000"/>
                    <a:lumOff val="5000"/>
                  </a:schemeClr>
                </a:solidFill>
                <a:latin typeface="Inter" panose="020B0604020202020204" charset="0"/>
                <a:ea typeface="Inter" panose="020B0604020202020204" charset="0"/>
              </a:rPr>
              <a:t>samples with size </a:t>
            </a:r>
            <a:r>
              <a:rPr lang="en-US" sz="1400" b="1" dirty="0">
                <a:solidFill>
                  <a:schemeClr val="tx1">
                    <a:lumMod val="95000"/>
                    <a:lumOff val="5000"/>
                  </a:schemeClr>
                </a:solidFill>
                <a:latin typeface="Inter" panose="020B0604020202020204" charset="0"/>
                <a:ea typeface="Inter" panose="020B0604020202020204" charset="0"/>
              </a:rPr>
              <a:t>172,800</a:t>
            </a:r>
            <a:r>
              <a:rPr lang="en-US" sz="1400" dirty="0">
                <a:solidFill>
                  <a:schemeClr val="tx1">
                    <a:lumMod val="95000"/>
                    <a:lumOff val="5000"/>
                  </a:schemeClr>
                </a:solidFill>
                <a:latin typeface="Inter" panose="020B0604020202020204" charset="0"/>
                <a:ea typeface="Inter" panose="020B0604020202020204" charset="0"/>
              </a:rPr>
              <a:t> over a SNR Range </a:t>
            </a:r>
            <a:r>
              <a:rPr lang="en-US" sz="1400" b="1" dirty="0">
                <a:solidFill>
                  <a:schemeClr val="tx1">
                    <a:lumMod val="95000"/>
                    <a:lumOff val="5000"/>
                  </a:schemeClr>
                </a:solidFill>
                <a:latin typeface="Inter" panose="020B0604020202020204" charset="0"/>
                <a:ea typeface="Inter" panose="020B0604020202020204" charset="0"/>
              </a:rPr>
              <a:t>(-10dB to 25dB)  </a:t>
            </a:r>
            <a:r>
              <a:rPr lang="en-US" sz="1400" dirty="0">
                <a:solidFill>
                  <a:schemeClr val="tx1">
                    <a:lumMod val="95000"/>
                    <a:lumOff val="5000"/>
                  </a:schemeClr>
                </a:solidFill>
                <a:latin typeface="Inter" panose="020B0604020202020204" charset="0"/>
                <a:ea typeface="Inter" panose="020B0604020202020204" charset="0"/>
              </a:rPr>
              <a:t>observation windows.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4" name="Google Shape;404;p38"/>
          <p:cNvSpPr txBox="1"/>
          <p:nvPr/>
        </p:nvSpPr>
        <p:spPr>
          <a:xfrm>
            <a:off x="1391953" y="5830312"/>
            <a:ext cx="6806119" cy="32008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00" b="1" i="0" u="none" strike="noStrike" cap="none" dirty="0">
                <a:solidFill>
                  <a:schemeClr val="tx1">
                    <a:lumMod val="95000"/>
                    <a:lumOff val="5000"/>
                  </a:schemeClr>
                </a:solidFill>
                <a:latin typeface="Inter"/>
                <a:ea typeface="Inter"/>
                <a:cs typeface="Inter"/>
                <a:sym typeface="Inter"/>
              </a:rPr>
              <a:t>*Table 2: CPU-only inference execution (Intel Core i7-13700, 32 GB DDR5 memory).</a:t>
            </a:r>
            <a:endParaRPr sz="1500" b="1" dirty="0">
              <a:solidFill>
                <a:schemeClr val="tx1">
                  <a:lumMod val="95000"/>
                  <a:lumOff val="5000"/>
                </a:schemeClr>
              </a:solidFill>
              <a:latin typeface="Inter"/>
              <a:ea typeface="Inter"/>
              <a:cs typeface="Inter"/>
              <a:sym typeface="Inter"/>
            </a:endParaRPr>
          </a:p>
        </p:txBody>
      </p:sp>
      <p:sp>
        <p:nvSpPr>
          <p:cNvPr id="426" name="Google Shape;426;p38"/>
          <p:cNvSpPr txBox="1"/>
          <p:nvPr/>
        </p:nvSpPr>
        <p:spPr>
          <a:xfrm>
            <a:off x="571500" y="468808"/>
            <a:ext cx="732736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chemeClr val="accent1">
                    <a:lumMod val="75000"/>
                  </a:schemeClr>
                </a:solidFill>
                <a:latin typeface="+mj-lt"/>
                <a:ea typeface="Poppins Medium"/>
                <a:cs typeface="Poppins Medium"/>
                <a:sym typeface="Poppins Medium"/>
              </a:rPr>
              <a:t>Computational Complexity &amp; Latency</a:t>
            </a:r>
            <a:endParaRPr sz="3600" b="1" dirty="0">
              <a:solidFill>
                <a:schemeClr val="accent1">
                  <a:lumMod val="75000"/>
                </a:schemeClr>
              </a:solidFill>
              <a:latin typeface="+mj-lt"/>
            </a:endParaRPr>
          </a:p>
        </p:txBody>
      </p:sp>
      <p:pic>
        <p:nvPicPr>
          <p:cNvPr id="427" name="Google Shape;427;p38" title="Table 2.png"/>
          <p:cNvPicPr preferRelativeResize="0"/>
          <p:nvPr/>
        </p:nvPicPr>
        <p:blipFill rotWithShape="1">
          <a:blip r:embed="rId3">
            <a:alphaModFix/>
          </a:blip>
          <a:srcRect l="3179" t="17335" r="2765" b="6602"/>
          <a:stretch/>
        </p:blipFill>
        <p:spPr>
          <a:xfrm>
            <a:off x="362025" y="1233637"/>
            <a:ext cx="11467950" cy="4390725"/>
          </a:xfrm>
          <a:prstGeom prst="rect">
            <a:avLst/>
          </a:prstGeom>
          <a:noFill/>
          <a:ln>
            <a:noFill/>
          </a:ln>
        </p:spPr>
      </p:pic>
      <p:sp>
        <p:nvSpPr>
          <p:cNvPr id="2" name="Slide Number Placeholder 1">
            <a:extLst>
              <a:ext uri="{FF2B5EF4-FFF2-40B4-BE49-F238E27FC236}">
                <a16:creationId xmlns:a16="http://schemas.microsoft.com/office/drawing/2014/main" id="{5BAADEC4-DC6E-2A3A-4B3E-30F867AF404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b="1" smtClean="0">
                <a:solidFill>
                  <a:schemeClr val="tx1">
                    <a:lumMod val="95000"/>
                    <a:lumOff val="5000"/>
                  </a:schemeClr>
                </a:solidFill>
              </a:rPr>
              <a:t>19</a:t>
            </a:fld>
            <a:endParaRPr lang="en-US" b="1" dirty="0">
              <a:solidFill>
                <a:schemeClr val="tx1">
                  <a:lumMod val="95000"/>
                  <a:lumOff val="5000"/>
                </a:schemeClr>
              </a:solidFill>
            </a:endParaRPr>
          </a:p>
        </p:txBody>
      </p:sp>
      <p:pic>
        <p:nvPicPr>
          <p:cNvPr id="3" name="Picture 2">
            <a:extLst>
              <a:ext uri="{FF2B5EF4-FFF2-40B4-BE49-F238E27FC236}">
                <a16:creationId xmlns:a16="http://schemas.microsoft.com/office/drawing/2014/main" id="{C6C6B664-00C5-A17A-12CD-B3265E739D6C}"/>
              </a:ext>
            </a:extLst>
          </p:cNvPr>
          <p:cNvPicPr>
            <a:picLocks noChangeAspect="1"/>
          </p:cNvPicPr>
          <p:nvPr/>
        </p:nvPicPr>
        <p:blipFill>
          <a:blip r:embed="rId4"/>
          <a:stretch>
            <a:fillRect/>
          </a:stretch>
        </p:blipFill>
        <p:spPr>
          <a:xfrm>
            <a:off x="76204" y="5868185"/>
            <a:ext cx="903221" cy="903221"/>
          </a:xfrm>
          <a:prstGeom prst="rect">
            <a:avLst/>
          </a:prstGeom>
        </p:spPr>
      </p:pic>
      <p:sp>
        <p:nvSpPr>
          <p:cNvPr id="4" name="Date Placeholder 3">
            <a:extLst>
              <a:ext uri="{FF2B5EF4-FFF2-40B4-BE49-F238E27FC236}">
                <a16:creationId xmlns:a16="http://schemas.microsoft.com/office/drawing/2014/main" id="{A75540DF-FDF0-D6C3-28A4-9A47E50E63A3}"/>
              </a:ext>
            </a:extLst>
          </p:cNvPr>
          <p:cNvSpPr>
            <a:spLocks noGrp="1"/>
          </p:cNvSpPr>
          <p:nvPr>
            <p:ph type="dt" sz="half" idx="10"/>
          </p:nvPr>
        </p:nvSpPr>
        <p:spPr>
          <a:xfrm>
            <a:off x="9270318" y="6342851"/>
            <a:ext cx="2743200" cy="365125"/>
          </a:xfrm>
        </p:spPr>
        <p:txBody>
          <a:bodyPr/>
          <a:lstStyle/>
          <a:p>
            <a:fld id="{4A7B1F48-A970-4CA9-A4FE-72BF9A840670}" type="datetime9">
              <a:rPr lang="en-US" b="1" smtClean="0">
                <a:solidFill>
                  <a:srgbClr val="7030A0"/>
                </a:solidFill>
              </a:rPr>
              <a:t>5/16/2026 10:59:48 PM</a:t>
            </a:fld>
            <a:endParaRPr lang="en-CA" b="1" dirty="0">
              <a:solidFill>
                <a:srgbClr val="7030A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50" name="Google Shape;450;p40"/>
          <p:cNvSpPr txBox="1"/>
          <p:nvPr/>
        </p:nvSpPr>
        <p:spPr>
          <a:xfrm>
            <a:off x="866775" y="2944266"/>
            <a:ext cx="30471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chemeClr val="tx1">
                    <a:lumMod val="95000"/>
                    <a:lumOff val="5000"/>
                  </a:schemeClr>
                </a:solidFill>
                <a:latin typeface="Poppins Medium"/>
                <a:ea typeface="Poppins Medium"/>
                <a:cs typeface="Poppins Medium"/>
                <a:sym typeface="Poppins Medium"/>
              </a:rPr>
              <a:t>Temporal Dominance</a:t>
            </a:r>
            <a:endParaRPr b="1" dirty="0">
              <a:solidFill>
                <a:schemeClr val="tx1">
                  <a:lumMod val="95000"/>
                  <a:lumOff val="5000"/>
                </a:schemeClr>
              </a:solidFill>
            </a:endParaRPr>
          </a:p>
        </p:txBody>
      </p:sp>
      <p:sp>
        <p:nvSpPr>
          <p:cNvPr id="451" name="Google Shape;451;p40"/>
          <p:cNvSpPr txBox="1"/>
          <p:nvPr/>
        </p:nvSpPr>
        <p:spPr>
          <a:xfrm>
            <a:off x="866774" y="3487191"/>
            <a:ext cx="2913563" cy="199439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chemeClr val="tx1">
                    <a:lumMod val="95000"/>
                    <a:lumOff val="5000"/>
                  </a:schemeClr>
                </a:solidFill>
                <a:latin typeface="Inter"/>
                <a:ea typeface="Inter"/>
                <a:cs typeface="Inter"/>
                <a:sym typeface="Inter"/>
              </a:rPr>
              <a:t>Phase-aware and recurrent models explicitly outperform others in deep low-SNR regimes, proving that tracking temporal correlations is critical to surviving multipath fading and CFO.</a:t>
            </a:r>
            <a:endParaRPr dirty="0">
              <a:solidFill>
                <a:schemeClr val="tx1">
                  <a:lumMod val="95000"/>
                  <a:lumOff val="5000"/>
                </a:schemeClr>
              </a:solidFill>
            </a:endParaRPr>
          </a:p>
        </p:txBody>
      </p:sp>
      <p:sp>
        <p:nvSpPr>
          <p:cNvPr id="452" name="Google Shape;452;p40"/>
          <p:cNvSpPr txBox="1"/>
          <p:nvPr/>
        </p:nvSpPr>
        <p:spPr>
          <a:xfrm>
            <a:off x="4645074" y="2944266"/>
            <a:ext cx="20502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chemeClr val="tx1">
                    <a:lumMod val="95000"/>
                    <a:lumOff val="5000"/>
                  </a:schemeClr>
                </a:solidFill>
                <a:latin typeface="Poppins Medium"/>
                <a:ea typeface="Poppins Medium"/>
                <a:cs typeface="Poppins Medium"/>
                <a:sym typeface="Poppins Medium"/>
              </a:rPr>
              <a:t>CNN Efficiency</a:t>
            </a:r>
            <a:endParaRPr b="1" dirty="0">
              <a:solidFill>
                <a:schemeClr val="tx1">
                  <a:lumMod val="95000"/>
                  <a:lumOff val="5000"/>
                </a:schemeClr>
              </a:solidFill>
            </a:endParaRPr>
          </a:p>
        </p:txBody>
      </p:sp>
      <p:sp>
        <p:nvSpPr>
          <p:cNvPr id="453" name="Google Shape;453;p40"/>
          <p:cNvSpPr txBox="1"/>
          <p:nvPr/>
        </p:nvSpPr>
        <p:spPr>
          <a:xfrm>
            <a:off x="4645073" y="3487191"/>
            <a:ext cx="3047099" cy="199439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chemeClr val="tx1">
                    <a:lumMod val="95000"/>
                    <a:lumOff val="5000"/>
                  </a:schemeClr>
                </a:solidFill>
                <a:latin typeface="Inter"/>
                <a:ea typeface="Inter"/>
                <a:cs typeface="Inter"/>
                <a:sym typeface="Inter"/>
              </a:rPr>
              <a:t>Convolutional models provide extremely competitive accuracy at moderate-to-high SNRs, boasting parallel inference latency that benefits rapid real-time spectrum scanning operations.</a:t>
            </a:r>
            <a:endParaRPr dirty="0">
              <a:solidFill>
                <a:schemeClr val="tx1">
                  <a:lumMod val="95000"/>
                  <a:lumOff val="5000"/>
                </a:schemeClr>
              </a:solidFill>
            </a:endParaRPr>
          </a:p>
        </p:txBody>
      </p:sp>
      <p:sp>
        <p:nvSpPr>
          <p:cNvPr id="454" name="Google Shape;454;p40"/>
          <p:cNvSpPr txBox="1"/>
          <p:nvPr/>
        </p:nvSpPr>
        <p:spPr>
          <a:xfrm>
            <a:off x="8423374" y="2944266"/>
            <a:ext cx="30471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chemeClr val="tx1">
                    <a:lumMod val="95000"/>
                    <a:lumOff val="5000"/>
                  </a:schemeClr>
                </a:solidFill>
                <a:latin typeface="Poppins Medium"/>
                <a:ea typeface="Poppins Medium"/>
                <a:cs typeface="Poppins Medium"/>
                <a:sym typeface="Poppins Medium"/>
              </a:rPr>
              <a:t>Proven Generalization</a:t>
            </a:r>
            <a:endParaRPr b="1" dirty="0">
              <a:solidFill>
                <a:schemeClr val="tx1">
                  <a:lumMod val="95000"/>
                  <a:lumOff val="5000"/>
                </a:schemeClr>
              </a:solidFill>
            </a:endParaRPr>
          </a:p>
        </p:txBody>
      </p:sp>
      <p:sp>
        <p:nvSpPr>
          <p:cNvPr id="455" name="Google Shape;455;p40"/>
          <p:cNvSpPr txBox="1"/>
          <p:nvPr/>
        </p:nvSpPr>
        <p:spPr>
          <a:xfrm>
            <a:off x="8423374" y="3470601"/>
            <a:ext cx="3047100" cy="166199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chemeClr val="tx1">
                    <a:lumMod val="95000"/>
                    <a:lumOff val="5000"/>
                  </a:schemeClr>
                </a:solidFill>
                <a:latin typeface="Inter"/>
                <a:ea typeface="Inter"/>
                <a:cs typeface="Inter"/>
                <a:sym typeface="Inter"/>
              </a:rPr>
              <a:t>By forcing models against a synthetic complex RF baseline, we prevented trivial energy detection, proving structural generalization across four vastly different data domains.</a:t>
            </a:r>
            <a:endParaRPr dirty="0">
              <a:solidFill>
                <a:schemeClr val="tx1">
                  <a:lumMod val="95000"/>
                  <a:lumOff val="5000"/>
                </a:schemeClr>
              </a:solidFill>
            </a:endParaRPr>
          </a:p>
        </p:txBody>
      </p:sp>
      <p:pic>
        <p:nvPicPr>
          <p:cNvPr id="456" name="Google Shape;456;p40" descr="image.png"/>
          <p:cNvPicPr preferRelativeResize="0"/>
          <p:nvPr/>
        </p:nvPicPr>
        <p:blipFill rotWithShape="1">
          <a:blip r:embed="rId3">
            <a:alphaModFix/>
          </a:blip>
          <a:srcRect/>
          <a:stretch/>
        </p:blipFill>
        <p:spPr>
          <a:xfrm>
            <a:off x="866775" y="2172741"/>
            <a:ext cx="476250" cy="476250"/>
          </a:xfrm>
          <a:prstGeom prst="rect">
            <a:avLst/>
          </a:prstGeom>
          <a:noFill/>
          <a:ln>
            <a:noFill/>
          </a:ln>
        </p:spPr>
      </p:pic>
      <p:pic>
        <p:nvPicPr>
          <p:cNvPr id="457" name="Google Shape;457;p40" descr="image.png"/>
          <p:cNvPicPr preferRelativeResize="0"/>
          <p:nvPr/>
        </p:nvPicPr>
        <p:blipFill rotWithShape="1">
          <a:blip r:embed="rId4">
            <a:alphaModFix/>
          </a:blip>
          <a:srcRect/>
          <a:stretch/>
        </p:blipFill>
        <p:spPr>
          <a:xfrm>
            <a:off x="4645074" y="2172741"/>
            <a:ext cx="476250" cy="476250"/>
          </a:xfrm>
          <a:prstGeom prst="rect">
            <a:avLst/>
          </a:prstGeom>
          <a:noFill/>
          <a:ln>
            <a:noFill/>
          </a:ln>
        </p:spPr>
      </p:pic>
      <p:pic>
        <p:nvPicPr>
          <p:cNvPr id="458" name="Google Shape;458;p40" descr="image.png"/>
          <p:cNvPicPr preferRelativeResize="0"/>
          <p:nvPr/>
        </p:nvPicPr>
        <p:blipFill rotWithShape="1">
          <a:blip r:embed="rId4">
            <a:alphaModFix/>
          </a:blip>
          <a:srcRect/>
          <a:stretch/>
        </p:blipFill>
        <p:spPr>
          <a:xfrm>
            <a:off x="8423374" y="2172741"/>
            <a:ext cx="476250" cy="476250"/>
          </a:xfrm>
          <a:prstGeom prst="rect">
            <a:avLst/>
          </a:prstGeom>
          <a:noFill/>
          <a:ln>
            <a:noFill/>
          </a:ln>
        </p:spPr>
      </p:pic>
      <p:sp>
        <p:nvSpPr>
          <p:cNvPr id="459" name="Google Shape;459;p40"/>
          <p:cNvSpPr txBox="1"/>
          <p:nvPr/>
        </p:nvSpPr>
        <p:spPr>
          <a:xfrm>
            <a:off x="866774" y="1240776"/>
            <a:ext cx="5158091"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dirty="0">
                <a:solidFill>
                  <a:schemeClr val="accent1">
                    <a:lumMod val="75000"/>
                  </a:schemeClr>
                </a:solidFill>
                <a:latin typeface="+mj-lt"/>
                <a:ea typeface="Poppins Medium"/>
                <a:cs typeface="Poppins Medium"/>
                <a:sym typeface="Poppins Medium"/>
              </a:rPr>
              <a:t>Key Research Conclusions</a:t>
            </a:r>
            <a:endParaRPr sz="3200" b="1" dirty="0">
              <a:solidFill>
                <a:schemeClr val="accent1">
                  <a:lumMod val="75000"/>
                </a:schemeClr>
              </a:solidFill>
              <a:latin typeface="+mj-lt"/>
            </a:endParaRPr>
          </a:p>
        </p:txBody>
      </p:sp>
      <p:sp>
        <p:nvSpPr>
          <p:cNvPr id="2" name="Slide Number Placeholder 1">
            <a:extLst>
              <a:ext uri="{FF2B5EF4-FFF2-40B4-BE49-F238E27FC236}">
                <a16:creationId xmlns:a16="http://schemas.microsoft.com/office/drawing/2014/main" id="{44D542C2-80DA-5ABC-2A16-21C13B3EB96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b="1" smtClean="0">
                <a:solidFill>
                  <a:schemeClr val="tx1">
                    <a:lumMod val="95000"/>
                    <a:lumOff val="5000"/>
                  </a:schemeClr>
                </a:solidFill>
              </a:rPr>
              <a:t>20</a:t>
            </a:fld>
            <a:endParaRPr lang="en-US" b="1" dirty="0">
              <a:solidFill>
                <a:schemeClr val="tx1">
                  <a:lumMod val="95000"/>
                  <a:lumOff val="5000"/>
                </a:schemeClr>
              </a:solidFill>
            </a:endParaRPr>
          </a:p>
        </p:txBody>
      </p:sp>
      <p:pic>
        <p:nvPicPr>
          <p:cNvPr id="3" name="Picture 2">
            <a:extLst>
              <a:ext uri="{FF2B5EF4-FFF2-40B4-BE49-F238E27FC236}">
                <a16:creationId xmlns:a16="http://schemas.microsoft.com/office/drawing/2014/main" id="{B42D66A2-8E75-4DB3-F434-B346F76BFFAC}"/>
              </a:ext>
            </a:extLst>
          </p:cNvPr>
          <p:cNvPicPr>
            <a:picLocks noChangeAspect="1"/>
          </p:cNvPicPr>
          <p:nvPr/>
        </p:nvPicPr>
        <p:blipFill>
          <a:blip r:embed="rId5"/>
          <a:stretch>
            <a:fillRect/>
          </a:stretch>
        </p:blipFill>
        <p:spPr>
          <a:xfrm>
            <a:off x="76204" y="5868185"/>
            <a:ext cx="903221" cy="903221"/>
          </a:xfrm>
          <a:prstGeom prst="rect">
            <a:avLst/>
          </a:prstGeom>
        </p:spPr>
      </p:pic>
      <p:sp>
        <p:nvSpPr>
          <p:cNvPr id="4" name="Date Placeholder 3">
            <a:extLst>
              <a:ext uri="{FF2B5EF4-FFF2-40B4-BE49-F238E27FC236}">
                <a16:creationId xmlns:a16="http://schemas.microsoft.com/office/drawing/2014/main" id="{1B315007-74B5-2C09-E004-E2674EE8E59A}"/>
              </a:ext>
            </a:extLst>
          </p:cNvPr>
          <p:cNvSpPr>
            <a:spLocks noGrp="1"/>
          </p:cNvSpPr>
          <p:nvPr>
            <p:ph type="dt" sz="half" idx="10"/>
          </p:nvPr>
        </p:nvSpPr>
        <p:spPr>
          <a:xfrm>
            <a:off x="9245771" y="6360995"/>
            <a:ext cx="2743200" cy="365125"/>
          </a:xfrm>
        </p:spPr>
        <p:txBody>
          <a:bodyPr/>
          <a:lstStyle/>
          <a:p>
            <a:fld id="{4EC1FBB7-DA79-48B8-B17E-D505EDB90B08}" type="datetime9">
              <a:rPr lang="en-US" b="1" smtClean="0">
                <a:solidFill>
                  <a:srgbClr val="7030A0"/>
                </a:solidFill>
              </a:rPr>
              <a:t>5/16/2026 10:59:48 PM</a:t>
            </a:fld>
            <a:endParaRPr lang="en-CA" b="1" dirty="0">
              <a:solidFill>
                <a:srgbClr val="7030A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8" name="Google Shape;468;p41" descr="image.png"/>
          <p:cNvPicPr preferRelativeResize="0"/>
          <p:nvPr/>
        </p:nvPicPr>
        <p:blipFill rotWithShape="1">
          <a:blip r:embed="rId3">
            <a:alphaModFix/>
          </a:blip>
          <a:srcRect/>
          <a:stretch/>
        </p:blipFill>
        <p:spPr>
          <a:xfrm>
            <a:off x="771525" y="1966019"/>
            <a:ext cx="3092499" cy="1905000"/>
          </a:xfrm>
          <a:prstGeom prst="rect">
            <a:avLst/>
          </a:prstGeom>
          <a:noFill/>
          <a:ln>
            <a:noFill/>
          </a:ln>
        </p:spPr>
      </p:pic>
      <p:pic>
        <p:nvPicPr>
          <p:cNvPr id="469" name="Google Shape;469;p41" descr="image.png"/>
          <p:cNvPicPr preferRelativeResize="0"/>
          <p:nvPr/>
        </p:nvPicPr>
        <p:blipFill rotWithShape="1">
          <a:blip r:embed="rId4">
            <a:alphaModFix/>
          </a:blip>
          <a:srcRect/>
          <a:stretch/>
        </p:blipFill>
        <p:spPr>
          <a:xfrm>
            <a:off x="4549824" y="1966019"/>
            <a:ext cx="3092499" cy="1905000"/>
          </a:xfrm>
          <a:prstGeom prst="rect">
            <a:avLst/>
          </a:prstGeom>
          <a:noFill/>
          <a:ln>
            <a:noFill/>
          </a:ln>
        </p:spPr>
      </p:pic>
      <p:pic>
        <p:nvPicPr>
          <p:cNvPr id="470" name="Google Shape;470;p41" descr="image.png"/>
          <p:cNvPicPr preferRelativeResize="0"/>
          <p:nvPr/>
        </p:nvPicPr>
        <p:blipFill rotWithShape="1">
          <a:blip r:embed="rId5">
            <a:alphaModFix/>
          </a:blip>
          <a:srcRect/>
          <a:stretch/>
        </p:blipFill>
        <p:spPr>
          <a:xfrm>
            <a:off x="8328124" y="1966019"/>
            <a:ext cx="3092499" cy="1905000"/>
          </a:xfrm>
          <a:prstGeom prst="rect">
            <a:avLst/>
          </a:prstGeom>
          <a:noFill/>
          <a:ln>
            <a:noFill/>
          </a:ln>
        </p:spPr>
      </p:pic>
      <p:sp>
        <p:nvSpPr>
          <p:cNvPr id="471" name="Google Shape;471;p41"/>
          <p:cNvSpPr txBox="1"/>
          <p:nvPr/>
        </p:nvSpPr>
        <p:spPr>
          <a:xfrm>
            <a:off x="771525" y="4061519"/>
            <a:ext cx="2078679"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chemeClr val="tx1">
                    <a:lumMod val="95000"/>
                    <a:lumOff val="5000"/>
                  </a:schemeClr>
                </a:solidFill>
                <a:latin typeface="Poppins Medium"/>
                <a:ea typeface="Poppins Medium"/>
                <a:cs typeface="Poppins Medium"/>
                <a:sym typeface="Poppins Medium"/>
              </a:rPr>
              <a:t>SDR Validation</a:t>
            </a:r>
            <a:endParaRPr b="1" dirty="0">
              <a:solidFill>
                <a:schemeClr val="tx1">
                  <a:lumMod val="95000"/>
                  <a:lumOff val="5000"/>
                </a:schemeClr>
              </a:solidFill>
            </a:endParaRPr>
          </a:p>
        </p:txBody>
      </p:sp>
      <p:sp>
        <p:nvSpPr>
          <p:cNvPr id="472" name="Google Shape;472;p41"/>
          <p:cNvSpPr txBox="1"/>
          <p:nvPr/>
        </p:nvSpPr>
        <p:spPr>
          <a:xfrm>
            <a:off x="771476" y="4479949"/>
            <a:ext cx="3006922" cy="13295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chemeClr val="tx1">
                    <a:lumMod val="95000"/>
                    <a:lumOff val="5000"/>
                  </a:schemeClr>
                </a:solidFill>
                <a:latin typeface="Inter"/>
                <a:ea typeface="Inter"/>
                <a:cs typeface="Inter"/>
                <a:sym typeface="Inter"/>
              </a:rPr>
              <a:t>Transitioning from simulated inference to real-time over-the-air hardware validation using physical Software Defined Radio endpoints.</a:t>
            </a:r>
            <a:endParaRPr dirty="0">
              <a:solidFill>
                <a:schemeClr val="tx1">
                  <a:lumMod val="95000"/>
                  <a:lumOff val="5000"/>
                </a:schemeClr>
              </a:solidFill>
            </a:endParaRPr>
          </a:p>
        </p:txBody>
      </p:sp>
      <p:sp>
        <p:nvSpPr>
          <p:cNvPr id="473" name="Google Shape;473;p41"/>
          <p:cNvSpPr txBox="1"/>
          <p:nvPr/>
        </p:nvSpPr>
        <p:spPr>
          <a:xfrm>
            <a:off x="4549824" y="4061519"/>
            <a:ext cx="30924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chemeClr val="tx1">
                    <a:lumMod val="95000"/>
                    <a:lumOff val="5000"/>
                  </a:schemeClr>
                </a:solidFill>
                <a:latin typeface="Poppins Medium"/>
                <a:ea typeface="Poppins Medium"/>
                <a:cs typeface="Poppins Medium"/>
                <a:sym typeface="Poppins Medium"/>
              </a:rPr>
              <a:t>Transformer Networks</a:t>
            </a:r>
            <a:endParaRPr b="1" dirty="0">
              <a:solidFill>
                <a:schemeClr val="tx1">
                  <a:lumMod val="95000"/>
                  <a:lumOff val="5000"/>
                </a:schemeClr>
              </a:solidFill>
            </a:endParaRPr>
          </a:p>
        </p:txBody>
      </p:sp>
      <p:sp>
        <p:nvSpPr>
          <p:cNvPr id="474" name="Google Shape;474;p41"/>
          <p:cNvSpPr txBox="1"/>
          <p:nvPr/>
        </p:nvSpPr>
        <p:spPr>
          <a:xfrm>
            <a:off x="4549824" y="4456860"/>
            <a:ext cx="3006923" cy="13295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chemeClr val="tx1">
                    <a:lumMod val="95000"/>
                    <a:lumOff val="5000"/>
                  </a:schemeClr>
                </a:solidFill>
                <a:latin typeface="Inter"/>
                <a:ea typeface="Inter"/>
                <a:cs typeface="Inter"/>
                <a:sym typeface="Inter"/>
              </a:rPr>
              <a:t>Exploring self-attention Transformer architectures specifically tuned for ultra-long sequence modeling across wideband spectra.</a:t>
            </a:r>
            <a:endParaRPr dirty="0">
              <a:solidFill>
                <a:schemeClr val="tx1">
                  <a:lumMod val="95000"/>
                  <a:lumOff val="5000"/>
                </a:schemeClr>
              </a:solidFill>
            </a:endParaRPr>
          </a:p>
        </p:txBody>
      </p:sp>
      <p:sp>
        <p:nvSpPr>
          <p:cNvPr id="475" name="Google Shape;475;p41"/>
          <p:cNvSpPr txBox="1"/>
          <p:nvPr/>
        </p:nvSpPr>
        <p:spPr>
          <a:xfrm>
            <a:off x="8328124" y="4061519"/>
            <a:ext cx="2703042"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chemeClr val="tx1">
                    <a:lumMod val="95000"/>
                    <a:lumOff val="5000"/>
                  </a:schemeClr>
                </a:solidFill>
                <a:latin typeface="Poppins Medium"/>
                <a:ea typeface="Poppins Medium"/>
                <a:cs typeface="Poppins Medium"/>
                <a:sym typeface="Poppins Medium"/>
              </a:rPr>
              <a:t>Edge Compression</a:t>
            </a:r>
            <a:endParaRPr b="1" dirty="0">
              <a:solidFill>
                <a:schemeClr val="tx1">
                  <a:lumMod val="95000"/>
                  <a:lumOff val="5000"/>
                </a:schemeClr>
              </a:solidFill>
            </a:endParaRPr>
          </a:p>
        </p:txBody>
      </p:sp>
      <p:sp>
        <p:nvSpPr>
          <p:cNvPr id="476" name="Google Shape;476;p41"/>
          <p:cNvSpPr txBox="1"/>
          <p:nvPr/>
        </p:nvSpPr>
        <p:spPr>
          <a:xfrm>
            <a:off x="8328124" y="4479949"/>
            <a:ext cx="2985144" cy="13295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chemeClr val="tx1">
                    <a:lumMod val="95000"/>
                    <a:lumOff val="5000"/>
                  </a:schemeClr>
                </a:solidFill>
                <a:latin typeface="Inter"/>
                <a:ea typeface="Inter"/>
                <a:cs typeface="Inter"/>
                <a:sym typeface="Inter"/>
              </a:rPr>
              <a:t>Aggressive model quantization and compression designed to deploy lightweight cognitive capabilities directly onto IoT devices.</a:t>
            </a:r>
            <a:endParaRPr dirty="0">
              <a:solidFill>
                <a:schemeClr val="tx1">
                  <a:lumMod val="95000"/>
                  <a:lumOff val="5000"/>
                </a:schemeClr>
              </a:solidFill>
            </a:endParaRPr>
          </a:p>
        </p:txBody>
      </p:sp>
      <p:pic>
        <p:nvPicPr>
          <p:cNvPr id="477" name="Google Shape;477;p41" descr="image.png"/>
          <p:cNvPicPr preferRelativeResize="0"/>
          <p:nvPr/>
        </p:nvPicPr>
        <p:blipFill rotWithShape="1">
          <a:blip r:embed="rId6">
            <a:alphaModFix/>
          </a:blip>
          <a:srcRect/>
          <a:stretch/>
        </p:blipFill>
        <p:spPr>
          <a:xfrm>
            <a:off x="771525" y="1966019"/>
            <a:ext cx="3092499" cy="1905000"/>
          </a:xfrm>
          <a:prstGeom prst="rect">
            <a:avLst/>
          </a:prstGeom>
          <a:noFill/>
          <a:ln>
            <a:noFill/>
          </a:ln>
        </p:spPr>
      </p:pic>
      <p:pic>
        <p:nvPicPr>
          <p:cNvPr id="478" name="Google Shape;478;p41"/>
          <p:cNvPicPr preferRelativeResize="0"/>
          <p:nvPr/>
        </p:nvPicPr>
        <p:blipFill>
          <a:blip r:embed="rId7">
            <a:alphaModFix/>
          </a:blip>
          <a:srcRect/>
          <a:stretch/>
        </p:blipFill>
        <p:spPr>
          <a:xfrm>
            <a:off x="4549824" y="1966018"/>
            <a:ext cx="3092499" cy="1875675"/>
          </a:xfrm>
          <a:prstGeom prst="rect">
            <a:avLst/>
          </a:prstGeom>
          <a:noFill/>
          <a:ln>
            <a:noFill/>
          </a:ln>
        </p:spPr>
      </p:pic>
      <p:pic>
        <p:nvPicPr>
          <p:cNvPr id="479" name="Google Shape;479;p41" descr="image.png"/>
          <p:cNvPicPr preferRelativeResize="0"/>
          <p:nvPr/>
        </p:nvPicPr>
        <p:blipFill rotWithShape="1">
          <a:blip r:embed="rId8">
            <a:alphaModFix/>
          </a:blip>
          <a:srcRect/>
          <a:stretch/>
        </p:blipFill>
        <p:spPr>
          <a:xfrm>
            <a:off x="8328124" y="1966019"/>
            <a:ext cx="3092499" cy="1905000"/>
          </a:xfrm>
          <a:prstGeom prst="rect">
            <a:avLst/>
          </a:prstGeom>
          <a:noFill/>
          <a:ln>
            <a:noFill/>
          </a:ln>
        </p:spPr>
      </p:pic>
      <p:sp>
        <p:nvSpPr>
          <p:cNvPr id="480" name="Google Shape;480;p41"/>
          <p:cNvSpPr txBox="1"/>
          <p:nvPr/>
        </p:nvSpPr>
        <p:spPr>
          <a:xfrm>
            <a:off x="571500" y="571500"/>
            <a:ext cx="5129692"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dirty="0">
                <a:solidFill>
                  <a:schemeClr val="accent1">
                    <a:lumMod val="75000"/>
                  </a:schemeClr>
                </a:solidFill>
                <a:latin typeface="+mj-lt"/>
                <a:ea typeface="Poppins Medium"/>
                <a:cs typeface="Poppins Medium"/>
                <a:sym typeface="Poppins Medium"/>
              </a:rPr>
              <a:t>Future Research Outlines</a:t>
            </a:r>
            <a:endParaRPr sz="3200" b="1" dirty="0">
              <a:solidFill>
                <a:schemeClr val="accent1">
                  <a:lumMod val="75000"/>
                </a:schemeClr>
              </a:solidFill>
              <a:latin typeface="+mj-lt"/>
            </a:endParaRPr>
          </a:p>
        </p:txBody>
      </p:sp>
      <p:sp>
        <p:nvSpPr>
          <p:cNvPr id="2" name="Slide Number Placeholder 1">
            <a:extLst>
              <a:ext uri="{FF2B5EF4-FFF2-40B4-BE49-F238E27FC236}">
                <a16:creationId xmlns:a16="http://schemas.microsoft.com/office/drawing/2014/main" id="{30906D6D-E98B-3190-28FB-04859D7094D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b="1" smtClean="0">
                <a:solidFill>
                  <a:schemeClr val="tx1">
                    <a:lumMod val="95000"/>
                    <a:lumOff val="5000"/>
                  </a:schemeClr>
                </a:solidFill>
              </a:rPr>
              <a:t>21</a:t>
            </a:fld>
            <a:endParaRPr lang="en-US" b="1" dirty="0">
              <a:solidFill>
                <a:schemeClr val="tx1">
                  <a:lumMod val="95000"/>
                  <a:lumOff val="5000"/>
                </a:schemeClr>
              </a:solidFill>
            </a:endParaRPr>
          </a:p>
        </p:txBody>
      </p:sp>
      <p:pic>
        <p:nvPicPr>
          <p:cNvPr id="3" name="Picture 2">
            <a:extLst>
              <a:ext uri="{FF2B5EF4-FFF2-40B4-BE49-F238E27FC236}">
                <a16:creationId xmlns:a16="http://schemas.microsoft.com/office/drawing/2014/main" id="{74EA0EBE-3A9E-1CD0-C5A3-B30B42B5602E}"/>
              </a:ext>
            </a:extLst>
          </p:cNvPr>
          <p:cNvPicPr>
            <a:picLocks noChangeAspect="1"/>
          </p:cNvPicPr>
          <p:nvPr/>
        </p:nvPicPr>
        <p:blipFill>
          <a:blip r:embed="rId9"/>
          <a:stretch>
            <a:fillRect/>
          </a:stretch>
        </p:blipFill>
        <p:spPr>
          <a:xfrm>
            <a:off x="76204" y="5868185"/>
            <a:ext cx="903221" cy="903221"/>
          </a:xfrm>
          <a:prstGeom prst="rect">
            <a:avLst/>
          </a:prstGeom>
        </p:spPr>
      </p:pic>
      <p:sp>
        <p:nvSpPr>
          <p:cNvPr id="4" name="Date Placeholder 3">
            <a:extLst>
              <a:ext uri="{FF2B5EF4-FFF2-40B4-BE49-F238E27FC236}">
                <a16:creationId xmlns:a16="http://schemas.microsoft.com/office/drawing/2014/main" id="{E850371F-FFBF-9DA7-429F-7AEA01810902}"/>
              </a:ext>
            </a:extLst>
          </p:cNvPr>
          <p:cNvSpPr>
            <a:spLocks noGrp="1"/>
          </p:cNvSpPr>
          <p:nvPr>
            <p:ph type="dt" sz="half" idx="10"/>
          </p:nvPr>
        </p:nvSpPr>
        <p:spPr>
          <a:xfrm>
            <a:off x="9245771" y="6356350"/>
            <a:ext cx="2743200" cy="365125"/>
          </a:xfrm>
        </p:spPr>
        <p:txBody>
          <a:bodyPr/>
          <a:lstStyle/>
          <a:p>
            <a:fld id="{EB4E4F34-B5D2-4B79-8E65-D1B0104CE449}" type="datetime9">
              <a:rPr lang="en-US" b="1" smtClean="0">
                <a:solidFill>
                  <a:srgbClr val="7030A0"/>
                </a:solidFill>
              </a:rPr>
              <a:t>5/16/2026 10:59:48 PM</a:t>
            </a:fld>
            <a:endParaRPr lang="en-CA" b="1" dirty="0">
              <a:solidFill>
                <a:srgbClr val="7030A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6" name="Google Shape;486;p42"/>
          <p:cNvSpPr txBox="1"/>
          <p:nvPr/>
        </p:nvSpPr>
        <p:spPr>
          <a:xfrm>
            <a:off x="3369869" y="2505600"/>
            <a:ext cx="4786089" cy="101566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600" b="1" i="0" u="none" strike="noStrike" cap="none" dirty="0">
                <a:solidFill>
                  <a:schemeClr val="tx1">
                    <a:lumMod val="95000"/>
                    <a:lumOff val="5000"/>
                  </a:schemeClr>
                </a:solidFill>
                <a:latin typeface="+mj-lt"/>
                <a:ea typeface="Poppins SemiBold"/>
                <a:cs typeface="Poppins SemiBold"/>
                <a:sym typeface="Poppins SemiBold"/>
              </a:rPr>
              <a:t>Questions?</a:t>
            </a:r>
            <a:endParaRPr sz="6600" b="1" dirty="0">
              <a:solidFill>
                <a:schemeClr val="tx1">
                  <a:lumMod val="95000"/>
                  <a:lumOff val="5000"/>
                </a:schemeClr>
              </a:solidFill>
              <a:latin typeface="+mj-lt"/>
            </a:endParaRPr>
          </a:p>
        </p:txBody>
      </p:sp>
      <p:sp>
        <p:nvSpPr>
          <p:cNvPr id="487" name="Google Shape;487;p42"/>
          <p:cNvSpPr txBox="1"/>
          <p:nvPr/>
        </p:nvSpPr>
        <p:spPr>
          <a:xfrm>
            <a:off x="3927625" y="3533129"/>
            <a:ext cx="3455082" cy="443198"/>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1" i="0" u="none" strike="noStrike" cap="none" dirty="0">
                <a:solidFill>
                  <a:schemeClr val="tx1">
                    <a:lumMod val="95000"/>
                    <a:lumOff val="5000"/>
                  </a:schemeClr>
                </a:solidFill>
                <a:latin typeface="Inter"/>
                <a:ea typeface="Inter"/>
                <a:cs typeface="Inter"/>
                <a:sym typeface="Inter"/>
              </a:rPr>
              <a:t>Thank you for your attention</a:t>
            </a:r>
            <a:endParaRPr b="1" dirty="0">
              <a:solidFill>
                <a:schemeClr val="tx1">
                  <a:lumMod val="95000"/>
                  <a:lumOff val="5000"/>
                </a:schemeClr>
              </a:solidFill>
            </a:endParaRPr>
          </a:p>
        </p:txBody>
      </p:sp>
      <p:sp>
        <p:nvSpPr>
          <p:cNvPr id="488" name="Google Shape;488;p42"/>
          <p:cNvSpPr txBox="1"/>
          <p:nvPr/>
        </p:nvSpPr>
        <p:spPr>
          <a:xfrm>
            <a:off x="2645294" y="4177203"/>
            <a:ext cx="6690998" cy="20774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1" i="0" u="none" strike="noStrike" cap="none" dirty="0" err="1">
                <a:solidFill>
                  <a:schemeClr val="tx1">
                    <a:lumMod val="95000"/>
                    <a:lumOff val="5000"/>
                  </a:schemeClr>
                </a:solidFill>
                <a:latin typeface="Inter"/>
                <a:ea typeface="Inter"/>
                <a:cs typeface="Inter"/>
                <a:sym typeface="Inter"/>
              </a:rPr>
              <a:t>Institut</a:t>
            </a:r>
            <a:r>
              <a:rPr lang="en-US" sz="1350" b="1" i="0" u="none" strike="noStrike" cap="none" dirty="0">
                <a:solidFill>
                  <a:schemeClr val="tx1">
                    <a:lumMod val="95000"/>
                    <a:lumOff val="5000"/>
                  </a:schemeClr>
                </a:solidFill>
                <a:latin typeface="Inter"/>
                <a:ea typeface="Inter"/>
                <a:cs typeface="Inter"/>
                <a:sym typeface="Inter"/>
              </a:rPr>
              <a:t> national de la recherche </a:t>
            </a:r>
            <a:r>
              <a:rPr lang="en-US" sz="1350" b="1" i="0" u="none" strike="noStrike" cap="none" dirty="0" err="1">
                <a:solidFill>
                  <a:schemeClr val="tx1">
                    <a:lumMod val="95000"/>
                    <a:lumOff val="5000"/>
                  </a:schemeClr>
                </a:solidFill>
                <a:latin typeface="Inter"/>
                <a:ea typeface="Inter"/>
                <a:cs typeface="Inter"/>
                <a:sym typeface="Inter"/>
              </a:rPr>
              <a:t>scientifique</a:t>
            </a:r>
            <a:r>
              <a:rPr lang="en-US" sz="1350" b="1" i="0" u="none" strike="noStrike" cap="none" dirty="0">
                <a:solidFill>
                  <a:schemeClr val="tx1">
                    <a:lumMod val="95000"/>
                    <a:lumOff val="5000"/>
                  </a:schemeClr>
                </a:solidFill>
                <a:latin typeface="Inter"/>
                <a:ea typeface="Inter"/>
                <a:cs typeface="Inter"/>
                <a:sym typeface="Inter"/>
              </a:rPr>
              <a:t> (INRS-ÉMT) | Montreal, Canada</a:t>
            </a:r>
            <a:endParaRPr b="1" dirty="0">
              <a:solidFill>
                <a:schemeClr val="tx1">
                  <a:lumMod val="95000"/>
                  <a:lumOff val="5000"/>
                </a:schemeClr>
              </a:solidFill>
            </a:endParaRPr>
          </a:p>
        </p:txBody>
      </p:sp>
      <p:sp>
        <p:nvSpPr>
          <p:cNvPr id="2" name="Slide Number Placeholder 1">
            <a:extLst>
              <a:ext uri="{FF2B5EF4-FFF2-40B4-BE49-F238E27FC236}">
                <a16:creationId xmlns:a16="http://schemas.microsoft.com/office/drawing/2014/main" id="{9FFDAC7C-6FAE-44FA-4D36-DB76FC93EAF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b="1" smtClean="0">
                <a:solidFill>
                  <a:schemeClr val="tx1">
                    <a:lumMod val="95000"/>
                    <a:lumOff val="5000"/>
                  </a:schemeClr>
                </a:solidFill>
              </a:rPr>
              <a:t>22</a:t>
            </a:fld>
            <a:endParaRPr lang="en-US" b="1" dirty="0">
              <a:solidFill>
                <a:schemeClr val="tx1">
                  <a:lumMod val="95000"/>
                  <a:lumOff val="5000"/>
                </a:schemeClr>
              </a:solidFill>
            </a:endParaRPr>
          </a:p>
        </p:txBody>
      </p:sp>
      <p:sp>
        <p:nvSpPr>
          <p:cNvPr id="3" name="Date Placeholder 2">
            <a:extLst>
              <a:ext uri="{FF2B5EF4-FFF2-40B4-BE49-F238E27FC236}">
                <a16:creationId xmlns:a16="http://schemas.microsoft.com/office/drawing/2014/main" id="{89B0E90F-0A41-12F1-671A-66B51DC68ED5}"/>
              </a:ext>
            </a:extLst>
          </p:cNvPr>
          <p:cNvSpPr>
            <a:spLocks noGrp="1"/>
          </p:cNvSpPr>
          <p:nvPr>
            <p:ph type="dt" sz="half" idx="10"/>
          </p:nvPr>
        </p:nvSpPr>
        <p:spPr>
          <a:xfrm>
            <a:off x="9316207" y="6370266"/>
            <a:ext cx="2743200" cy="365125"/>
          </a:xfrm>
        </p:spPr>
        <p:txBody>
          <a:bodyPr/>
          <a:lstStyle/>
          <a:p>
            <a:fld id="{6DC07637-E344-419F-ACB6-1FE0DBEF7A33}" type="datetime9">
              <a:rPr lang="en-US" b="1" smtClean="0">
                <a:solidFill>
                  <a:srgbClr val="7030A0"/>
                </a:solidFill>
              </a:rPr>
              <a:t>5/16/2026 10:59:48 PM</a:t>
            </a:fld>
            <a:endParaRPr lang="en-CA" b="1" dirty="0">
              <a:solidFill>
                <a:srgbClr val="7030A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10839</TotalTime>
  <Words>1322</Words>
  <Application>Microsoft Office PowerPoint</Application>
  <PresentationFormat>Widescreen</PresentationFormat>
  <Paragraphs>153</Paragraphs>
  <Slides>22</Slides>
  <Notes>22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22</vt:i4>
      </vt:variant>
    </vt:vector>
  </HeadingPairs>
  <TitlesOfParts>
    <vt:vector size="35" baseType="lpstr">
      <vt:lpstr>Calibri</vt:lpstr>
      <vt:lpstr>Poppins Medium</vt:lpstr>
      <vt:lpstr>Inter SemiBold</vt:lpstr>
      <vt:lpstr>Aptos</vt:lpstr>
      <vt:lpstr>Poppins SemiBold</vt:lpstr>
      <vt:lpstr>Bahnschrift</vt:lpstr>
      <vt:lpstr>Inter</vt:lpstr>
      <vt:lpstr>Aptos Display</vt:lpstr>
      <vt:lpstr>Arial</vt:lpstr>
      <vt:lpstr>Times New Roman</vt:lpstr>
      <vt:lpstr>Poppins</vt:lpstr>
      <vt:lpstr>Microsoft GothicNeo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Mahabub, Atik</cp:lastModifiedBy>
  <cp:revision>49</cp:revision>
  <dcterms:modified xsi:type="dcterms:W3CDTF">2026-05-19T07:06:47Z</dcterms:modified>
</cp:coreProperties>
</file>